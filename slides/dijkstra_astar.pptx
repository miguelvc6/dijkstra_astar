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00-01 min | CORE</a:t>
            </a:r>
          </a:p>
          <a:p/>
          <a:p>
            <a:r>
              <a:t>Open with the question of certification, not the names of data structures. Ask: finding a route is one task; how would we know no cheaper route remains? Explain that the lecture reconstructs decisions through counterexamples rather than retelling historical discovery. Prerequisites: graphs, elementary Python, asymptotic notation. Do not show the solution path yet. Pedagogical inspiration: P1, P2.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01-03 min | CORE</a:t>
            </a:r>
          </a:p>
          <a:p/>
          <a:p>
            <a:r>
              <a:t>Use Google Maps only as a familiar application, not a claim about its current implementation. Distinguish satellite positioning from road routing. For networks say next-hop router and outgoing interface, not application port. OSPF RFC 2328 section 16.1 is the documented Dijkstra example. Ask what objective each model optimizes; distance and travel time need not agree.</a:t>
            </a:r>
          </a:p>
          <a:p/>
          <a:p>
            <a:r>
              <a:t>SOURCES</a:t>
            </a:r>
          </a:p>
          <a:p>
            <a:r>
              <a:t>[R6] https://www.rfc-editor.org/rfc/rfc2328.html#section-16.1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03-05 min | CORE</a:t>
            </a:r>
          </a:p>
          <a:p/>
          <a:p>
            <a:r>
              <a:t>Establish fixed additive nonnegative costs. We will later test why the sign assumption is needed. Distinguish cost, path, and all single-source distances. Expected boundary answers: unreachable gives infinity / no route; s=t gives cost zero and [s]. A target-limited run does not necessarily finalize all other labels.</a:t>
            </a:r>
          </a:p>
          <a:p/>
          <a:p>
            <a:r>
              <a:t>SOURCES</a:t>
            </a:r>
          </a:p>
          <a:p>
            <a:r>
              <a:t>[R1] https://ir.cwi.nl/pub/9256/9256D.pdf</a:t>
            </a:r>
          </a:p>
          <a:p>
            <a:r>
              <a:t>[R4] https://stanford-cs221.github.io/spring2023-extra/modules/search/search2.pdf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05-09 min | CORE</a:t>
            </a:r>
          </a:p>
          <a:p/>
          <a:p>
            <a:r>
              <a:t>Show graphs/main_graph.py with heuristic values hidden. Separate navigation meshes and geographic modeling from matrix/list storage. Mention a turn-dependent cost may require the incoming direction in the state. Avoid a survey of mesh formats. Exit at minute 9 with the objective and adjacency representation agreed.</a:t>
            </a:r>
          </a:p>
          <a:p/>
          <a:p>
            <a:r>
              <a:t>SOURCES</a:t>
            </a:r>
          </a:p>
          <a:p>
            <a:r>
              <a:t>[R4] https://stanford-cs221.github.io/spring2023-extra/modules/search/search2.pdf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09-12 min | CORE</a:t>
            </a:r>
          </a:p>
          <a:p/>
          <a:p>
            <a:r>
              <a:t>Draw the main graph once on the board. Ask for the cost of S-&gt;T and any cheaper candidate. Then expose the A-B cycle. Refine unrestricted walks to simple paths. With nonnegative edge costs removing a cycle cannot worsen the route, so an optimal simple path exists whenever the goal is reachable.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12-16 min | CORE</a:t>
            </a:r>
          </a:p>
          <a:p/>
          <a:p>
            <a:r>
              <a:t>Complete checkpoint 01 or its notebook cell. The slide is an excerpt; the checkpoint includes adding/removing nodes from on_path. Reference result: 8 simple S-to-T paths, optimum 8. Show prepared complete-graph scaling; factorial path count is not the complexity of one DFS traversal. Do not wait for unbounded enumeration. Transition: which expensive prefixes can we discard?</a:t>
            </a:r>
          </a:p>
          <a:p/>
          <a:p>
            <a:r>
              <a:t>SOURCES</a:t>
            </a:r>
          </a:p>
          <a:p>
            <a:r>
              <a:t>[R5] https://networkx.org/documentation/stable/reference/algorithms/generated/networkx.algorithms.simple_paths.all_simple_paths.html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16-18 min | CORE</a:t>
            </a:r>
          </a:p>
          <a:p/>
          <a:p>
            <a:r>
              <a:t>Ask whether the expensive prefix can lead to a cheaper total using the same continuation. Under this state model it cannot. Clarify that a state must contain sufficient history; otherwise dominance can fail. Define tentative g and predecessors before naming relaxation. Do not call g the true shortest distance yet.</a:t>
            </a:r>
          </a:p>
          <a:p/>
          <a:p>
            <a:r>
              <a:t>SOURCES</a:t>
            </a:r>
          </a:p>
          <a:p>
            <a:r>
              <a:t>[R1] https://ir.cwi.nl/pub/9256/9256D.pdf</a:t>
            </a:r>
          </a:p>
          <a:p>
            <a:r>
              <a:t>[R4] https://stanford-cs221.github.io/spring2023-extra/modules/search/search2.pdf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18-22 min | CORE</a:t>
            </a:r>
          </a:p>
          <a:p/>
          <a:p>
            <a:r>
              <a:t>Trace changed labels at the board. Correct non-stale order: S, A, D, B, E, C, F, G, T. B improves 6-&gt;3; C 8-&gt;4; T 15-&gt;11-&gt;8. Use neighbor order and FIFO tickets for ties. Ask whether discovering T at 15 permits stopping. Distinguish a priority based on accumulated cost from choosing the cheapest next edge.</a:t>
            </a:r>
          </a:p>
          <a:p/>
          <a:p>
            <a:r>
              <a:t>SOURCES</a:t>
            </a:r>
          </a:p>
          <a:p>
            <a:r>
              <a:t>[R1] https://ir.cwi.nl/pub/9256/9256D.pdf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22-26 min | CORE</a:t>
            </a:r>
          </a:p>
          <a:p/>
          <a:p>
            <a:r>
              <a:t>Collaborative proof. Let S be finalized. By induction dist(x)=delta(x); optimal-prefix relaxation gives dist(y)=delta(y). Nonnegative suffix yields delta(y)&lt;=delta(u), while minimum extraction yields dist(u)&lt;=dist(y). Contradiction if dist(u)&gt;delta(u). Ask which inequality needs nonnegativity. The heap does not prove the theorem; it implements the selection rule. Full proof in appendix and technical notes.</a:t>
            </a:r>
          </a:p>
          <a:p/>
          <a:p>
            <a:r>
              <a:t>SOURCES</a:t>
            </a:r>
          </a:p>
          <a:p>
            <a:r>
              <a:t>[R1] https://ir.cwi.nl/pub/9256/9256D.pdf</a:t>
            </a:r>
          </a:p>
          <a:p>
            <a:r>
              <a:t>[R4] https://stanford-cs221.github.io/spring2023-extra/modules/search/search2.pdf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26-28 min | CORE</a:t>
            </a:r>
          </a:p>
          <a:p/>
          <a:p>
            <a:r>
              <a:t>S-&gt;T=2, S-&gt;B=5, B-&gt;T=-4. First target extraction costs 2; optimum via B is 1. The nonnegative-suffix inequality fails. The normal reference code rejects this input. Keep Bellman-Ford as a named alternative only. Move to implementation at minute 28.</a:t>
            </a:r>
          </a:p>
          <a:p/>
          <a:p>
            <a:r>
              <a:t>SOURCES</a:t>
            </a:r>
          </a:p>
          <a:p>
            <a:r>
              <a:t>[R1] https://ir.cwi.nl/pub/9256/9256D.pdf</a:t>
            </a:r>
          </a:p>
          <a:p>
            <a:r>
              <a:t>[R4] https://stanford-cs221.github.io/spring2023-extra/modules/search/search2.pdf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28-34 min | CORE</a:t>
            </a:r>
          </a:p>
          <a:p/>
          <a:p>
            <a:r>
              <a:t>Use checkpoint 02; imports and initialization are prepared. The displayed ticket is shorthand for next(ticket) in the full implementation. Fill candidate and comparison, ask for a prediction, and run. Do not live-implement heapq. Keep proof meanings aligned with variables.</a:t>
            </a:r>
          </a:p>
          <a:p/>
          <a:p>
            <a:r>
              <a:t>SOURCES</a:t>
            </a:r>
          </a:p>
          <a:p>
            <a:r>
              <a:t>[R2] https://docs.python.org/3/library/heapq.html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34-38 min | CORE</a:t>
            </a:r>
          </a:p>
          <a:p/>
          <a:p>
            <a:r>
              <a:t>Use visualizer lazy/main, next meaningful events until the first stale skip. Show the sorted queue and actual heap-array views. Main target run skips B6 and C8; later old T records remain in the queue at termination. Emphasize that an obsolete path need not be nonexistent; it has just been superseded. Finish checkpoint 03.</a:t>
            </a:r>
          </a:p>
          <a:p/>
          <a:p>
            <a:r>
              <a:t>SOURCES</a:t>
            </a:r>
          </a:p>
          <a:p>
            <a:r>
              <a:t>[R2] https://docs.python.org/3/library/heapq.html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38-41 min | CORE</a:t>
            </a:r>
          </a:p>
          <a:p/>
          <a:p>
            <a:r>
              <a:t>Demonstrate experiments.stop_on_generation_bug returning 15. The correct main graph returns 8. Place target check after rejecting stale records. Use target=None or --all to compute all reachable distances. Explain Result.finalized. In some graphs early target extraction leaves other finite labels improvable.</a:t>
            </a:r>
          </a:p>
          <a:p/>
          <a:p>
            <a:r>
              <a:t>SOURCES</a:t>
            </a:r>
          </a:p>
          <a:p>
            <a:r>
              <a:t>[R1] https://ir.cwi.nl/pub/9256/9256D.pdf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41-46 min | CORE</a:t>
            </a:r>
          </a:p>
          <a:p/>
          <a:p>
            <a:r>
              <a:t>Use the already written IndexedMinPQ and complete checkpoint 05. Do not build the heap live. Demonstrate one decrease-key event. Main graph eager uses 9 insertions, 4 decreases and peak queue 4, versus lazy 13 insertions and peak queue 6. The FIFO ticket is refreshed on improvement so variants use aligned tie policies.</a:t>
            </a:r>
          </a:p>
          <a:p/>
          <a:p>
            <a:r>
              <a:t>SOURCES</a:t>
            </a:r>
          </a:p>
          <a:p>
            <a:r>
              <a:t>[R2] https://docs.python.org/3/library/heapq.html</a:t>
            </a:r>
          </a:p>
          <a:p>
            <a:r>
              <a:t>[R7] https://www3.cs.stonybrook.edu/~rezaul/papers/TR-07-54.pdf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46-48 min | CORE</a:t>
            </a:r>
          </a:p>
          <a:p/>
          <a:p>
            <a:r>
              <a:t>Lazy: O(n+m log(m+1)) time and O(n+m) auxiliary memory. Eager: O((n+m)log(n+1)) time and O(n) auxiliary memory. Both exclude graph storage. Eager is not guaranteed faster; the pure-Python indexed heap and standard heapq differ in constants. Mention d-ary/Fibonacci only as an appendix extension. Protect the 54-minute A* start.</a:t>
            </a:r>
          </a:p>
          <a:p/>
          <a:p>
            <a:r>
              <a:t>SOURCES</a:t>
            </a:r>
          </a:p>
          <a:p>
            <a:r>
              <a:t>[R2] https://docs.python.org/3/library/heapq.html</a:t>
            </a:r>
          </a:p>
          <a:p>
            <a:r>
              <a:t>[R7] https://www3.cs.stonybrook.edu/~rezaul/papers/TR-07-54.pdf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48-51 min | CORE</a:t>
            </a:r>
          </a:p>
          <a:p/>
          <a:p>
            <a:r>
              <a:t>Point to D-E-F-G as the tempting low-cost branch. Ask students how they might avoid it without risking optimality. Use saved grid results or the notebook for the wavefront intuition; the closing application is deferred. Always compare target-stopped Dijkstra with target-stopped A*.</a:t>
            </a:r>
          </a:p>
          <a:p/>
          <a:p>
            <a:r>
              <a:t>SOURCES</a:t>
            </a:r>
          </a:p>
          <a:p>
            <a:r>
              <a:t>[R4] https://stanford-cs221.github.io/spring2023-extra/modules/search/search2.pdf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51-54 min | CORE</a:t>
            </a:r>
          </a:p>
          <a:p/>
          <a:p>
            <a:r>
              <a:t>Introduce greedy best-first search briefly as the natural suggestion, not an extra implementation project. On this graph direct T is available at h=0 and would be selected, giving cost15. Reveal the main graph coordinate-based Manhattan heuristic. Ask how to retain the useful information from Dijkstra.</a:t>
            </a:r>
          </a:p>
          <a:p/>
          <a:p>
            <a:r>
              <a:t>SOURCES</a:t>
            </a:r>
          </a:p>
          <a:p>
            <a:r>
              <a:t>[R3] https://inst.eecs.berkeley.edu/~cs188/textbook/search/informed.html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54-58 min | CORE</a:t>
            </a:r>
          </a:p>
          <a:p/>
          <a:p>
            <a:r>
              <a:t>Derive f=g+h before showing the trace. Four expansions exclude the goal pop. h is the exact cost of a relaxed Manhattan problem; every main-graph arc costs at least its Manhattan displacement. Coordinates are in graphs/main_graph.py. Now ask why adding any arbitrary estimate should preserve correctness.</a:t>
            </a:r>
          </a:p>
          <a:p/>
          <a:p>
            <a:r>
              <a:t>SOURCES</a:t>
            </a:r>
          </a:p>
          <a:p>
            <a:r>
              <a:t>[R3] https://inst.eecs.berkeley.edu/~cs188/textbook/search/informed.html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58-61 min | CORE</a:t>
            </a:r>
          </a:p>
          <a:p/>
          <a:p>
            <a:r>
              <a:t>Before displaying the formal definition, run visualizer overestimate/A*. It returns11 via S-B-C-T instead of8. h*(A)=6 so20 overestimates. Give the optimal-prefix frontier argument f&lt;=C*; a suboptimal goal has f=g&gt;C*. Do not say every f-value is a lower bound on the global optimum. Leave duplicate handling as the next proof obligation.</a:t>
            </a:r>
          </a:p>
          <a:p/>
          <a:p>
            <a:r>
              <a:t>SOURCES</a:t>
            </a:r>
          </a:p>
          <a:p>
            <a:r>
              <a:t>[R3] https://inst.eecs.berkeley.edu/~cs188/textbook/search/informed.html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61-66 min | CORE</a:t>
            </a:r>
          </a:p>
          <a:p/>
          <a:p>
            <a:r>
              <a:t>Ask for the true remaining cost from B (4). A expanded at g3 discovers T6; B at f5 improves A to2. Permanently closed A yields6; reopening yields5 with one re-expansion. Use the Broken: never reopen toggle, clearly labeled. Distinguish stale records from genuinely improved states. Keep students accountable for the queue prediction.</a:t>
            </a:r>
          </a:p>
          <a:p/>
          <a:p>
            <a:r>
              <a:t>SOURCES</a:t>
            </a:r>
          </a:p>
          <a:p>
            <a:r>
              <a:t>[R3] https://inst.eecs.berkeley.edu/~cs188/textbook/search/informed.html</a:t>
            </a:r>
          </a:p>
          <a:p>
            <a:r>
              <a:t>[R4] https://stanford-cs221.github.io/spring2023-extra/modules/search/search2.pdf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66-68 min | CORE</a:t>
            </a:r>
          </a:p>
          <a:p/>
          <a:p>
            <a:r>
              <a:t>At B-&gt;A the inequality fails4&gt;1+0; reweighted cost becomes-3. Explain the telescope and constant shift. Consistency gives the Dijkstra-like no-reopening guarantee. Under admissibility alone retain reopening. Full proof and reweighted diagram in the appendix. Do not exceed minute68.</a:t>
            </a:r>
          </a:p>
          <a:p/>
          <a:p>
            <a:r>
              <a:t>SOURCES</a:t>
            </a:r>
          </a:p>
          <a:p>
            <a:r>
              <a:t>[R4] https://stanford-cs221.github.io/spring2023-extra/modules/search/search2.pdf</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68-73 min | CORE</a:t>
            </a:r>
          </a:p>
          <a:p/>
          <a:p>
            <a:r>
              <a:t>Complete checkpoint06, which uses the same ideas as this excerpt. Ticket is next(ticket) in the full code. Reference expanded set records statistics and never blocks improved routes. Run main, reopening, and h=0. With aligned ties, h=0 reproduces lazy Dijkstra behavior.</a:t>
            </a:r>
          </a:p>
          <a:p/>
          <a:p>
            <a:r>
              <a:t>SOURCES</a:t>
            </a:r>
          </a:p>
          <a:p>
            <a:r>
              <a:t>[R2] https://docs.python.org/3/library/heapq.html</a:t>
            </a:r>
          </a:p>
          <a:p>
            <a:r>
              <a:t>[R3] https://inst.eecs.berkeley.edu/~cs188/textbook/search/informed.html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73-77 min | CORE</a:t>
            </a:r>
          </a:p>
          <a:p/>
          <a:p>
            <a:r>
              <a:t>The displayed counts are generated from the reference main graph. All correct algorithms return8. A* expands4 vs8 but peak queue6 equals lazy Dijkstra here. Eager reduces peak queue to4. Brute force examines8 complete paths with a different prefix-work unit. With consistent constant-time h the explicit-graph worst-case order remains the lazy Dijkstra bound; inconsistency can require repeated expansions. Avoid claiming universal speedup.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77-86 min | CORE</a:t>
            </a:r>
          </a:p>
          <a:p/>
          <a:p>
            <a:r>
              <a:t>This block is currently delivered using notebooks/lecture_solutions.ipynb and results/comparison.md. No separate closing-demo application is in this release. 77-79 scaling;79-83 grid zero/Euclidean/Manhattan;83-85 diagonal unit move refutes Manhattan with (0,0)-&gt;(1,1);85-86 distinguish expansions, memory and runtime. A future closing app can replace the visual form without changing these questions.</a:t>
            </a:r>
          </a:p>
          <a:p/>
          <a:p>
            <a:r>
              <a:t>SOURCES</a:t>
            </a:r>
          </a:p>
          <a:p>
            <a:r>
              <a:t>[R7] https://www3.cs.stonybrook.edu/~rezaul/papers/TR-07-54.pdf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86-90 min | CORE</a:t>
            </a:r>
          </a:p>
          <a:p/>
          <a:p>
            <a:r>
              <a:t>Give students one minute to answer before summarizing. Discovery only supplies an upper bound. Nonnegative costs certify minimum-g extraction; A* needs a justified heuristic and correct duplicate handling. Consistency supports permanent closure; admissibility alone requires improvements to propagate, potentially through reopening. Stale rejection removes superseded records; reopening propagates a new better route. Return to the central question.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Appendix min | OPTIONAL APPENDIX</a:t>
            </a:r>
          </a:p>
          <a:p/>
          <a:p>
            <a:r>
              <a:t>Not in the timed core. The base case is s with cost0. The equality of an optimal prefix uses the shortest-path optimal substructure. Explain unreachable states remain at infinity and are never extracted.</a:t>
            </a:r>
          </a:p>
          <a:p/>
          <a:p>
            <a:r>
              <a:t>SOURCES</a:t>
            </a:r>
          </a:p>
          <a:p>
            <a:r>
              <a:t>[R1] https://ir.cwi.nl/pub/9256/9256D.pdf</a:t>
            </a:r>
          </a:p>
          <a:p>
            <a:r>
              <a:t>[R4] https://stanford-cs221.github.io/spring2023-extra/modules/search/search2.pdf</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Appendix min | OPTIONAL APPENDIX</a:t>
            </a:r>
          </a:p>
          <a:p/>
          <a:p>
            <a:r>
              <a:t>This is the four-node reopening example with reweighted costs. Original edges remain nonnegative. The sum telescopes to original path cost plus h(t)-h(s). The f ordering agrees with reweighted Dijkstra up to h(s).</a:t>
            </a:r>
          </a:p>
          <a:p/>
          <a:p>
            <a:r>
              <a:t>SOURCES</a:t>
            </a:r>
          </a:p>
          <a:p>
            <a:r>
              <a:t>[R4] https://stanford-cs221.github.io/spring2023-extra/modules/search/search2.pdf</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Appendix min | OPTIONAL APPENDIX</a:t>
            </a:r>
          </a:p>
          <a:p/>
          <a:p>
            <a:r>
              <a:t>Fixed distinct source and target. Choose an ordered subset of the other n-2 nodes. The complete counts grow16,326,13700,986410 for n5,7,9,11. A classroom budget may stop before reaching the complete count; do not confuse measured partial counts with this exact combinatorial count.</a:t>
            </a:r>
          </a:p>
          <a:p/>
          <a:p>
            <a:r>
              <a:t>SOURCES</a:t>
            </a:r>
          </a:p>
          <a:p>
            <a:r>
              <a:t>[R5] https://networkx.org/documentation/stable/reference/algorithms/generated/networkx.algorithms.simple_paths.all_simple_paths.html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Appendix min | OPTIONAL APPENDIX</a:t>
            </a:r>
          </a:p>
          <a:p/>
          <a:p>
            <a:r>
              <a:t>Not a live implementation block. For d-ary heap height log_d n; decrease costs O(log_d n), extraction O(d log_d n). Discuss operation mix and constants. Do not equate theoretical asymptotic improvement with measured runtime superiority.</a:t>
            </a:r>
          </a:p>
          <a:p/>
          <a:p>
            <a:r>
              <a:t>SOURCES</a:t>
            </a:r>
          </a:p>
          <a:p>
            <a:r>
              <a:t>[R7] https://www3.cs.stonybrook.edu/~rezaul/papers/TR-07-54.pdf</a:t>
            </a:r>
          </a:p>
          <a:p>
            <a:r>
              <a:t>[R8] https://arxiv.org/abs/2504.17033v2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Appendix min | OPTIONAL APPENDIX</a:t>
            </a:r>
          </a:p>
          <a:p/>
          <a:p>
            <a:r>
              <a:t>Derive Chebyshev by using diagonals for min(|dx|,|dy|) steps, then cardinal steps for the remaining difference. If diagonal costs sqrt(2), use the corresponding relaxed metric instead. For time costs, a geometric distance must be converted with a valid speed bound.</a:t>
            </a:r>
          </a:p>
          <a:p/>
          <a:p>
            <a:r>
              <a:t>SOURCES</a:t>
            </a:r>
          </a:p>
          <a:p>
            <a:r>
              <a:t>[R3] https://inst.eecs.berkeley.edu/~cs188/textbook/search/informed.html</a:t>
            </a:r>
          </a:p>
          <a:p>
            <a:r>
              <a:t>[R4] https://stanford-cs221.github.io/spring2023-extra/modules/search/search2.pdf</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Appendix min | OPTIONAL APPENDIX</a:t>
            </a:r>
          </a:p>
          <a:p/>
          <a:p>
            <a:r>
              <a:t>Optional PhD-level context. Source arXiv2504.17033v2, Breaking the Sorting Barrier for Directed Single-Source Shortest Paths. It breaks the O(m+nlogn) bound on sparse graphs in the stated model. Do not label Fibonacci Dijkstra as the unqualified current state of the art. No claim is made about every computational model or current best bound.</a:t>
            </a:r>
          </a:p>
          <a:p/>
          <a:p>
            <a:r>
              <a:t>SOURCES</a:t>
            </a:r>
          </a:p>
          <a:p>
            <a:r>
              <a:t>[R8] https://arxiv.org/abs/2504.17033v2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Appendix min | OPTIONAL APPENDIX</a:t>
            </a:r>
          </a:p>
          <a:p/>
          <a:p>
            <a:r>
              <a:t>Full clickable URLs and additional provenance are in docs/references.md. All figures, graph examples, code and exercises in this package are newly created; cited lecture figures are not redistributed.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Appendix min | OPTIONAL APPENDIX</a:t>
            </a:r>
          </a:p>
          <a:p/>
          <a:p>
            <a:r>
              <a:t>Pedagogical inspiration: Toeplitz, The Calculus: A Genetic Approach (University of Chicago Press); Lakatos, Proofs and Refutations (Cambridge,1976). P1 and P2, including links, are in docs/references.md. This lecture reconstructs motivations and proof obligations; it does not purport to reenact the algorithms’ history.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Rectangle 1"/>
          <p:cNvSpPr/>
          <p:nvPr/>
        </p:nvSpPr>
        <p:spPr>
          <a:xfrm>
            <a:off x="0" y="0"/>
            <a:ext cx="5166360" cy="6858000"/>
          </a:xfrm>
          <a:prstGeom prst="rect">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4023360" cy="457200"/>
          </a:xfrm>
          <a:prstGeom prst="rect">
            <a:avLst/>
          </a:prstGeom>
          <a:noFill/>
        </p:spPr>
        <p:txBody>
          <a:bodyPr wrap="none" lIns="0" rIns="0" tIns="0" bIns="0" anchor="t">
            <a:spAutoFit/>
          </a:bodyPr>
          <a:lstStyle/>
          <a:p>
            <a:pPr algn="l">
              <a:lnSpc>
                <a:spcPct val="120000"/>
              </a:lnSpc>
              <a:spcBef>
                <a:spcPts val="0"/>
              </a:spcBef>
              <a:spcAft>
                <a:spcPts val="0"/>
              </a:spcAft>
              <a:defRPr sz="1200" b="1">
                <a:solidFill>
                  <a:srgbClr val="8ED9C6"/>
                </a:solidFill>
                <a:latin typeface="Arial"/>
              </a:defRPr>
            </a:pPr>
            <a:r>
              <a:t>A 90-MINUTE PhD LECTURE</a:t>
            </a:r>
          </a:p>
        </p:txBody>
      </p:sp>
      <p:sp>
        <p:nvSpPr>
          <p:cNvPr id="4" name="TextBox 3"/>
          <p:cNvSpPr txBox="1"/>
          <p:nvPr/>
        </p:nvSpPr>
        <p:spPr>
          <a:xfrm>
            <a:off x="640080" y="1417320"/>
            <a:ext cx="4206240" cy="1554480"/>
          </a:xfrm>
          <a:prstGeom prst="rect">
            <a:avLst/>
          </a:prstGeom>
          <a:noFill/>
        </p:spPr>
        <p:txBody>
          <a:bodyPr wrap="none" lIns="0" rIns="0" tIns="0" bIns="0" anchor="t">
            <a:spAutoFit/>
          </a:bodyPr>
          <a:lstStyle/>
          <a:p>
            <a:pPr algn="l">
              <a:lnSpc>
                <a:spcPct val="120000"/>
              </a:lnSpc>
              <a:spcBef>
                <a:spcPts val="0"/>
              </a:spcBef>
              <a:spcAft>
                <a:spcPts val="0"/>
              </a:spcAft>
              <a:defRPr sz="4800" b="1">
                <a:solidFill>
                  <a:srgbClr val="FFFEFB"/>
                </a:solidFill>
                <a:latin typeface="Arial"/>
              </a:defRPr>
            </a:pPr>
            <a:r>
              <a:t>Dijkstra</a:t>
            </a:r>
          </a:p>
          <a:p>
            <a:pPr algn="l">
              <a:lnSpc>
                <a:spcPct val="120000"/>
              </a:lnSpc>
              <a:spcBef>
                <a:spcPts val="0"/>
              </a:spcBef>
              <a:spcAft>
                <a:spcPts val="0"/>
              </a:spcAft>
              <a:defRPr sz="4800" b="1">
                <a:solidFill>
                  <a:srgbClr val="FFFEFB"/>
                </a:solidFill>
                <a:latin typeface="Arial"/>
              </a:defRPr>
            </a:pPr>
            <a:r>
              <a:t>and A*</a:t>
            </a:r>
          </a:p>
        </p:txBody>
      </p:sp>
      <p:sp>
        <p:nvSpPr>
          <p:cNvPr id="5" name="TextBox 4"/>
          <p:cNvSpPr txBox="1"/>
          <p:nvPr/>
        </p:nvSpPr>
        <p:spPr>
          <a:xfrm>
            <a:off x="640080" y="3246120"/>
            <a:ext cx="3977639" cy="1645920"/>
          </a:xfrm>
          <a:prstGeom prst="rect">
            <a:avLst/>
          </a:prstGeom>
          <a:noFill/>
        </p:spPr>
        <p:txBody>
          <a:bodyPr wrap="none" lIns="0" rIns="0" tIns="0" bIns="0" anchor="t">
            <a:spAutoFit/>
          </a:bodyPr>
          <a:lstStyle/>
          <a:p>
            <a:pPr algn="l">
              <a:lnSpc>
                <a:spcPct val="120000"/>
              </a:lnSpc>
              <a:spcBef>
                <a:spcPts val="0"/>
              </a:spcBef>
              <a:spcAft>
                <a:spcPts val="0"/>
              </a:spcAft>
              <a:defRPr sz="2900" b="0">
                <a:solidFill>
                  <a:srgbClr val="FFFEFB"/>
                </a:solidFill>
                <a:latin typeface="Arial"/>
              </a:defRPr>
            </a:pPr>
            <a:r>
              <a:t>When can a route</a:t>
            </a:r>
          </a:p>
          <a:p>
            <a:pPr algn="l">
              <a:lnSpc>
                <a:spcPct val="120000"/>
              </a:lnSpc>
              <a:spcBef>
                <a:spcPts val="0"/>
              </a:spcBef>
              <a:spcAft>
                <a:spcPts val="0"/>
              </a:spcAft>
              <a:defRPr sz="2900" b="0">
                <a:solidFill>
                  <a:srgbClr val="FFFEFB"/>
                </a:solidFill>
                <a:latin typeface="Arial"/>
              </a:defRPr>
            </a:pPr>
            <a:r>
              <a:t>be finalized?</a:t>
            </a:r>
          </a:p>
        </p:txBody>
      </p:sp>
      <p:sp>
        <p:nvSpPr>
          <p:cNvPr id="6" name="TextBox 5"/>
          <p:cNvSpPr txBox="1"/>
          <p:nvPr/>
        </p:nvSpPr>
        <p:spPr>
          <a:xfrm>
            <a:off x="640080" y="5715000"/>
            <a:ext cx="3886200" cy="621792"/>
          </a:xfrm>
          <a:prstGeom prst="rect">
            <a:avLst/>
          </a:prstGeom>
          <a:noFill/>
        </p:spPr>
        <p:txBody>
          <a:bodyPr wrap="none" lIns="0" rIns="0" tIns="0" bIns="0" anchor="t">
            <a:spAutoFit/>
          </a:bodyPr>
          <a:lstStyle/>
          <a:p>
            <a:pPr algn="l">
              <a:lnSpc>
                <a:spcPct val="120000"/>
              </a:lnSpc>
              <a:spcBef>
                <a:spcPts val="0"/>
              </a:spcBef>
              <a:spcAft>
                <a:spcPts val="0"/>
              </a:spcAft>
              <a:defRPr sz="1500" b="0">
                <a:solidFill>
                  <a:srgbClr val="C9DED4"/>
                </a:solidFill>
                <a:latin typeface="Arial"/>
              </a:defRPr>
            </a:pPr>
            <a:r>
              <a:t>Conjecture → counterexample → repair</a:t>
            </a:r>
          </a:p>
        </p:txBody>
      </p:sp>
      <p:pic>
        <p:nvPicPr>
          <p:cNvPr id="7" name="Picture 6" descr="main_graph.png"/>
          <p:cNvPicPr>
            <a:picLocks noChangeAspect="1"/>
          </p:cNvPicPr>
          <p:nvPr/>
        </p:nvPicPr>
        <p:blipFill>
          <a:blip r:embed="rId2"/>
          <a:stretch>
            <a:fillRect/>
          </a:stretch>
        </p:blipFill>
        <p:spPr>
          <a:xfrm>
            <a:off x="5303520" y="1330960"/>
            <a:ext cx="6629400" cy="3830320"/>
          </a:xfrm>
          <a:prstGeom prst="rect">
            <a:avLst/>
          </a:prstGeom>
        </p:spPr>
      </p:pic>
      <p:sp>
        <p:nvSpPr>
          <p:cNvPr id="8" name="TextBox 7"/>
          <p:cNvSpPr txBox="1"/>
          <p:nvPr/>
        </p:nvSpPr>
        <p:spPr>
          <a:xfrm>
            <a:off x="5623560" y="5779008"/>
            <a:ext cx="5669280" cy="621792"/>
          </a:xfrm>
          <a:prstGeom prst="rect">
            <a:avLst/>
          </a:prstGeom>
          <a:noFill/>
        </p:spPr>
        <p:txBody>
          <a:bodyPr wrap="none" lIns="0" rIns="0" tIns="0" bIns="0" anchor="t">
            <a:spAutoFit/>
          </a:bodyPr>
          <a:lstStyle/>
          <a:p>
            <a:pPr algn="l">
              <a:lnSpc>
                <a:spcPct val="120000"/>
              </a:lnSpc>
              <a:spcBef>
                <a:spcPts val="0"/>
              </a:spcBef>
              <a:spcAft>
                <a:spcPts val="0"/>
              </a:spcAft>
              <a:defRPr sz="2100" b="1">
                <a:solidFill>
                  <a:srgbClr val="087E79"/>
                </a:solidFill>
                <a:latin typeface="Arial"/>
              </a:defRPr>
            </a:pPr>
            <a:r>
              <a:t>Find a route. Then justify stopping.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01 / WHY SEARCH?</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01-03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Finding a route is only half the problem.</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Can you certify that no cheaper route exists?</a:t>
            </a:r>
          </a:p>
        </p:txBody>
      </p:sp>
      <p:sp>
        <p:nvSpPr>
          <p:cNvPr id="7" name="Rectangle 6"/>
          <p:cNvSpPr/>
          <p:nvPr/>
        </p:nvSpPr>
        <p:spPr>
          <a:xfrm>
            <a:off x="59436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R6</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02</a:t>
            </a:r>
          </a:p>
        </p:txBody>
      </p:sp>
      <p:sp>
        <p:nvSpPr>
          <p:cNvPr id="19" name="Rounded Rectangle 18"/>
          <p:cNvSpPr/>
          <p:nvPr/>
        </p:nvSpPr>
        <p:spPr>
          <a:xfrm>
            <a:off x="59436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Navigation</a:t>
            </a:r>
          </a:p>
        </p:txBody>
      </p:sp>
      <p:sp>
        <p:nvSpPr>
          <p:cNvPr id="21" name="Rectangle 20"/>
          <p:cNvSpPr/>
          <p:nvPr/>
        </p:nvSpPr>
        <p:spPr>
          <a:xfrm>
            <a:off x="850392"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A current position is</a:t>
            </a:r>
          </a:p>
          <a:p>
            <a:pPr algn="l">
              <a:lnSpc>
                <a:spcPct val="120000"/>
              </a:lnSpc>
              <a:spcBef>
                <a:spcPts val="0"/>
              </a:spcBef>
              <a:spcAft>
                <a:spcPts val="0"/>
              </a:spcAft>
              <a:defRPr sz="2100" b="0">
                <a:solidFill>
                  <a:srgbClr val="17323D"/>
                </a:solidFill>
                <a:latin typeface="Arial"/>
              </a:defRPr>
            </a:pPr>
            <a:r>
              <a:t>not a route.</a:t>
            </a:r>
          </a:p>
          <a:p>
            <a:pPr algn="l">
              <a:lnSpc>
                <a:spcPct val="120000"/>
              </a:lnSpc>
              <a:spcBef>
                <a:spcPts val="0"/>
              </a:spcBef>
              <a:spcAft>
                <a:spcPts val="0"/>
              </a:spcAft>
              <a:defRPr sz="2100" b="0">
                <a:solidFill>
                  <a:srgbClr val="17323D"/>
                </a:solidFill>
                <a:latin typeface="Arial"/>
              </a:defRPr>
            </a:pPr>
            <a:r>
              <a:t>What path minimizes</a:t>
            </a:r>
          </a:p>
          <a:p>
            <a:pPr algn="l">
              <a:lnSpc>
                <a:spcPct val="120000"/>
              </a:lnSpc>
              <a:spcBef>
                <a:spcPts val="0"/>
              </a:spcBef>
              <a:spcAft>
                <a:spcPts val="0"/>
              </a:spcAft>
              <a:defRPr sz="2100" b="0">
                <a:solidFill>
                  <a:srgbClr val="17323D"/>
                </a:solidFill>
                <a:latin typeface="Arial"/>
              </a:defRPr>
            </a:pPr>
            <a:r>
              <a:t>the chosen cost?</a:t>
            </a:r>
          </a:p>
        </p:txBody>
      </p:sp>
      <p:sp>
        <p:nvSpPr>
          <p:cNvPr id="23" name="Rounded Rectangle 22"/>
          <p:cNvSpPr/>
          <p:nvPr/>
        </p:nvSpPr>
        <p:spPr>
          <a:xfrm>
            <a:off x="434340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2"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Networks</a:t>
            </a:r>
          </a:p>
        </p:txBody>
      </p:sp>
      <p:sp>
        <p:nvSpPr>
          <p:cNvPr id="25" name="Rectangle 24"/>
          <p:cNvSpPr/>
          <p:nvPr/>
        </p:nvSpPr>
        <p:spPr>
          <a:xfrm>
            <a:off x="4599432"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9432"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Which next hop and</a:t>
            </a:r>
          </a:p>
          <a:p>
            <a:pPr algn="l">
              <a:lnSpc>
                <a:spcPct val="120000"/>
              </a:lnSpc>
              <a:spcBef>
                <a:spcPts val="0"/>
              </a:spcBef>
              <a:spcAft>
                <a:spcPts val="0"/>
              </a:spcAft>
              <a:defRPr sz="2100" b="0">
                <a:solidFill>
                  <a:srgbClr val="17323D"/>
                </a:solidFill>
                <a:latin typeface="Arial"/>
              </a:defRPr>
            </a:pPr>
            <a:r>
              <a:t>outgoing interface?</a:t>
            </a:r>
          </a:p>
          <a:p>
            <a:pPr algn="l">
              <a:lnSpc>
                <a:spcPct val="120000"/>
              </a:lnSpc>
              <a:spcBef>
                <a:spcPts val="0"/>
              </a:spcBef>
              <a:spcAft>
                <a:spcPts val="0"/>
              </a:spcAft>
              <a:defRPr sz="2100" b="0">
                <a:solidFill>
                  <a:srgbClr val="17323D"/>
                </a:solidFill>
                <a:latin typeface="Arial"/>
              </a:defRPr>
            </a:pPr>
            <a:r>
              <a:t>OSPF builds</a:t>
            </a:r>
          </a:p>
          <a:p>
            <a:pPr algn="l">
              <a:lnSpc>
                <a:spcPct val="120000"/>
              </a:lnSpc>
              <a:spcBef>
                <a:spcPts val="0"/>
              </a:spcBef>
              <a:spcAft>
                <a:spcPts val="0"/>
              </a:spcAft>
              <a:defRPr sz="2100" b="0">
                <a:solidFill>
                  <a:srgbClr val="17323D"/>
                </a:solidFill>
                <a:latin typeface="Arial"/>
              </a:defRPr>
            </a:pPr>
            <a:r>
              <a:t>shortest-path trees.</a:t>
            </a:r>
          </a:p>
        </p:txBody>
      </p:sp>
      <p:sp>
        <p:nvSpPr>
          <p:cNvPr id="27" name="Rounded Rectangle 26"/>
          <p:cNvSpPr/>
          <p:nvPr/>
        </p:nvSpPr>
        <p:spPr>
          <a:xfrm>
            <a:off x="809244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48471"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Agents</a:t>
            </a:r>
          </a:p>
        </p:txBody>
      </p:sp>
      <p:sp>
        <p:nvSpPr>
          <p:cNvPr id="29" name="Rectangle 28"/>
          <p:cNvSpPr/>
          <p:nvPr/>
        </p:nvSpPr>
        <p:spPr>
          <a:xfrm>
            <a:off x="8348471"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48471"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Which sequence of</a:t>
            </a:r>
          </a:p>
          <a:p>
            <a:pPr algn="l">
              <a:lnSpc>
                <a:spcPct val="120000"/>
              </a:lnSpc>
              <a:spcBef>
                <a:spcPts val="0"/>
              </a:spcBef>
              <a:spcAft>
                <a:spcPts val="0"/>
              </a:spcAft>
              <a:defRPr sz="2100" b="0">
                <a:solidFill>
                  <a:srgbClr val="17323D"/>
                </a:solidFill>
                <a:latin typeface="Arial"/>
              </a:defRPr>
            </a:pPr>
            <a:r>
              <a:t>valid moves?</a:t>
            </a:r>
          </a:p>
          <a:p>
            <a:pPr algn="l">
              <a:lnSpc>
                <a:spcPct val="120000"/>
              </a:lnSpc>
              <a:spcBef>
                <a:spcPts val="0"/>
              </a:spcBef>
              <a:spcAft>
                <a:spcPts val="0"/>
              </a:spcAft>
              <a:defRPr sz="2100" b="0">
                <a:solidFill>
                  <a:srgbClr val="17323D"/>
                </a:solidFill>
                <a:latin typeface="Arial"/>
              </a:defRPr>
            </a:pPr>
            <a:r>
              <a:t>The state must</a:t>
            </a:r>
          </a:p>
          <a:p>
            <a:pPr algn="l">
              <a:lnSpc>
                <a:spcPct val="120000"/>
              </a:lnSpc>
              <a:spcBef>
                <a:spcPts val="0"/>
              </a:spcBef>
              <a:spcAft>
                <a:spcPts val="0"/>
              </a:spcAft>
              <a:defRPr sz="2100" b="0">
                <a:solidFill>
                  <a:srgbClr val="17323D"/>
                </a:solidFill>
                <a:latin typeface="Arial"/>
              </a:defRPr>
            </a:pPr>
            <a:r>
              <a:t>encode what matters.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MODEL / OBJECTIVE / OUTPUT</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03-05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First, agree on the problem.</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What should happen if t is unreachable? What if s = t?</a:t>
            </a:r>
          </a:p>
        </p:txBody>
      </p:sp>
      <p:sp>
        <p:nvSpPr>
          <p:cNvPr id="7" name="Rectangle 6"/>
          <p:cNvSpPr/>
          <p:nvPr/>
        </p:nvSpPr>
        <p:spPr>
          <a:xfrm>
            <a:off x="59436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R1 · R4</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03</a:t>
            </a:r>
          </a:p>
        </p:txBody>
      </p:sp>
      <p:sp>
        <p:nvSpPr>
          <p:cNvPr id="19" name="Rounded Rectangle 18"/>
          <p:cNvSpPr/>
          <p:nvPr/>
        </p:nvSpPr>
        <p:spPr>
          <a:xfrm>
            <a:off x="594360" y="1856231"/>
            <a:ext cx="10991088" cy="914400"/>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103120"/>
            <a:ext cx="10424160" cy="530352"/>
          </a:xfrm>
          <a:prstGeom prst="rect">
            <a:avLst/>
          </a:prstGeom>
          <a:noFill/>
        </p:spPr>
        <p:txBody>
          <a:bodyPr wrap="none" lIns="0" rIns="0" tIns="0" bIns="0" anchor="t">
            <a:spAutoFit/>
          </a:bodyPr>
          <a:lstStyle/>
          <a:p>
            <a:pPr algn="l">
              <a:lnSpc>
                <a:spcPct val="120000"/>
              </a:lnSpc>
              <a:spcBef>
                <a:spcPts val="0"/>
              </a:spcBef>
              <a:spcAft>
                <a:spcPts val="0"/>
              </a:spcAft>
              <a:defRPr sz="2900" b="1">
                <a:solidFill>
                  <a:srgbClr val="FFFEFB"/>
                </a:solidFill>
                <a:latin typeface="Arial"/>
              </a:defRPr>
            </a:pPr>
            <a:r>
              <a:t>minimize  C(P) = sum of edge costs on P</a:t>
            </a:r>
          </a:p>
        </p:txBody>
      </p:sp>
      <p:sp>
        <p:nvSpPr>
          <p:cNvPr id="21" name="TextBox 20"/>
          <p:cNvSpPr txBox="1"/>
          <p:nvPr/>
        </p:nvSpPr>
        <p:spPr>
          <a:xfrm>
            <a:off x="822960" y="3227832"/>
            <a:ext cx="4800600" cy="45720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087E79"/>
                </a:solidFill>
                <a:latin typeface="Arial"/>
              </a:defRPr>
            </a:pPr>
            <a:r>
              <a:t>Given</a:t>
            </a:r>
          </a:p>
        </p:txBody>
      </p:sp>
      <p:sp>
        <p:nvSpPr>
          <p:cNvPr id="22" name="TextBox 21"/>
          <p:cNvSpPr txBox="1"/>
          <p:nvPr/>
        </p:nvSpPr>
        <p:spPr>
          <a:xfrm>
            <a:off x="822960" y="3931920"/>
            <a:ext cx="4800600" cy="1645920"/>
          </a:xfrm>
          <a:prstGeom prst="rect">
            <a:avLst/>
          </a:prstGeom>
          <a:noFill/>
        </p:spPr>
        <p:txBody>
          <a:bodyPr wrap="none" lIns="0" rIns="0" tIns="0" bIns="0" anchor="t">
            <a:spAutoFit/>
          </a:bodyPr>
          <a:lstStyle/>
          <a:p>
            <a:pPr algn="l">
              <a:lnSpc>
                <a:spcPct val="120000"/>
              </a:lnSpc>
              <a:spcBef>
                <a:spcPts val="0"/>
              </a:spcBef>
              <a:spcAft>
                <a:spcPts val="0"/>
              </a:spcAft>
              <a:defRPr sz="2300" b="0">
                <a:solidFill>
                  <a:srgbClr val="17323D"/>
                </a:solidFill>
                <a:latin typeface="Arial"/>
              </a:defRPr>
            </a:pPr>
            <a:r>
              <a:t>A finite directed graph G=(V,E).</a:t>
            </a:r>
          </a:p>
          <a:p>
            <a:pPr algn="l">
              <a:lnSpc>
                <a:spcPct val="120000"/>
              </a:lnSpc>
              <a:spcBef>
                <a:spcPts val="0"/>
              </a:spcBef>
              <a:spcAft>
                <a:spcPts val="0"/>
              </a:spcAft>
              <a:defRPr sz="2300" b="0">
                <a:solidFill>
                  <a:srgbClr val="17323D"/>
                </a:solidFill>
                <a:latin typeface="Arial"/>
              </a:defRPr>
            </a:pPr>
            <a:r>
              <a:t>Start s, target t.</a:t>
            </a:r>
          </a:p>
          <a:p>
            <a:pPr algn="l">
              <a:lnSpc>
                <a:spcPct val="120000"/>
              </a:lnSpc>
              <a:spcBef>
                <a:spcPts val="0"/>
              </a:spcBef>
              <a:spcAft>
                <a:spcPts val="0"/>
              </a:spcAft>
              <a:defRPr sz="2300" b="0">
                <a:solidFill>
                  <a:srgbClr val="17323D"/>
                </a:solidFill>
                <a:latin typeface="Arial"/>
              </a:defRPr>
            </a:pPr>
            <a:r>
              <a:t>Fixed, nonnegative edge costs.</a:t>
            </a:r>
          </a:p>
        </p:txBody>
      </p:sp>
      <p:sp>
        <p:nvSpPr>
          <p:cNvPr id="23" name="TextBox 22"/>
          <p:cNvSpPr txBox="1"/>
          <p:nvPr/>
        </p:nvSpPr>
        <p:spPr>
          <a:xfrm>
            <a:off x="6309360" y="3227832"/>
            <a:ext cx="4800600" cy="45720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087E79"/>
                </a:solidFill>
                <a:latin typeface="Arial"/>
              </a:defRPr>
            </a:pPr>
            <a:r>
              <a:t>Return</a:t>
            </a:r>
          </a:p>
        </p:txBody>
      </p:sp>
      <p:sp>
        <p:nvSpPr>
          <p:cNvPr id="24" name="TextBox 23"/>
          <p:cNvSpPr txBox="1"/>
          <p:nvPr/>
        </p:nvSpPr>
        <p:spPr>
          <a:xfrm>
            <a:off x="6309360" y="3931920"/>
            <a:ext cx="4800600" cy="1645920"/>
          </a:xfrm>
          <a:prstGeom prst="rect">
            <a:avLst/>
          </a:prstGeom>
          <a:noFill/>
        </p:spPr>
        <p:txBody>
          <a:bodyPr wrap="none" lIns="0" rIns="0" tIns="0" bIns="0" anchor="t">
            <a:spAutoFit/>
          </a:bodyPr>
          <a:lstStyle/>
          <a:p>
            <a:pPr algn="l">
              <a:lnSpc>
                <a:spcPct val="120000"/>
              </a:lnSpc>
              <a:spcBef>
                <a:spcPts val="0"/>
              </a:spcBef>
              <a:spcAft>
                <a:spcPts val="0"/>
              </a:spcAft>
              <a:defRPr sz="2300" b="0">
                <a:solidFill>
                  <a:srgbClr val="17323D"/>
                </a:solidFill>
                <a:latin typeface="Arial"/>
              </a:defRPr>
            </a:pPr>
            <a:r>
              <a:t>The minimum cost.</a:t>
            </a:r>
          </a:p>
          <a:p>
            <a:pPr algn="l">
              <a:lnSpc>
                <a:spcPct val="120000"/>
              </a:lnSpc>
              <a:spcBef>
                <a:spcPts val="0"/>
              </a:spcBef>
              <a:spcAft>
                <a:spcPts val="0"/>
              </a:spcAft>
              <a:defRPr sz="2300" b="0">
                <a:solidFill>
                  <a:srgbClr val="17323D"/>
                </a:solidFill>
                <a:latin typeface="Arial"/>
              </a:defRPr>
            </a:pPr>
            <a:r>
              <a:t>A route attaining it.</a:t>
            </a:r>
          </a:p>
          <a:p>
            <a:pPr algn="l">
              <a:lnSpc>
                <a:spcPct val="120000"/>
              </a:lnSpc>
              <a:spcBef>
                <a:spcPts val="0"/>
              </a:spcBef>
              <a:spcAft>
                <a:spcPts val="0"/>
              </a:spcAft>
              <a:defRPr sz="2300" b="0">
                <a:solidFill>
                  <a:srgbClr val="17323D"/>
                </a:solidFill>
                <a:latin typeface="Arial"/>
              </a:defRPr>
            </a:pPr>
            <a:r>
              <a:t>Or: all distances from 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FROM THE WORLD TO MEMORY</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05-09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A graph model is not a storage format.</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For the live code: a dictionary of outgoing (neighbor, cost) pairs.</a:t>
            </a:r>
          </a:p>
        </p:txBody>
      </p:sp>
      <p:sp>
        <p:nvSpPr>
          <p:cNvPr id="7" name="Rectangle 6"/>
          <p:cNvSpPr/>
          <p:nvPr/>
        </p:nvSpPr>
        <p:spPr>
          <a:xfrm>
            <a:off x="59436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R4</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04</a:t>
            </a:r>
          </a:p>
        </p:txBody>
      </p:sp>
      <p:sp>
        <p:nvSpPr>
          <p:cNvPr id="19" name="Rounded Rectangle 18"/>
          <p:cNvSpPr/>
          <p:nvPr/>
        </p:nvSpPr>
        <p:spPr>
          <a:xfrm>
            <a:off x="59436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Model</a:t>
            </a:r>
          </a:p>
        </p:txBody>
      </p:sp>
      <p:sp>
        <p:nvSpPr>
          <p:cNvPr id="21" name="Rectangle 20"/>
          <p:cNvSpPr/>
          <p:nvPr/>
        </p:nvSpPr>
        <p:spPr>
          <a:xfrm>
            <a:off x="850392"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Intersections, grid</a:t>
            </a:r>
          </a:p>
          <a:p>
            <a:pPr algn="l">
              <a:lnSpc>
                <a:spcPct val="120000"/>
              </a:lnSpc>
              <a:spcBef>
                <a:spcPts val="0"/>
              </a:spcBef>
              <a:spcAft>
                <a:spcPts val="0"/>
              </a:spcAft>
              <a:defRPr sz="2100" b="0">
                <a:solidFill>
                  <a:srgbClr val="17323D"/>
                </a:solidFill>
                <a:latin typeface="Arial"/>
              </a:defRPr>
            </a:pPr>
            <a:r>
              <a:t>cells, or regions?</a:t>
            </a:r>
          </a:p>
          <a:p>
            <a:pPr algn="l">
              <a:lnSpc>
                <a:spcPct val="120000"/>
              </a:lnSpc>
              <a:spcBef>
                <a:spcPts val="0"/>
              </a:spcBef>
              <a:spcAft>
                <a:spcPts val="0"/>
              </a:spcAft>
              <a:defRPr sz="2100" b="0">
                <a:solidFill>
                  <a:srgbClr val="17323D"/>
                </a:solidFill>
                <a:latin typeface="Arial"/>
              </a:defRPr>
            </a:pPr>
            <a:r>
              <a:t>Choose states and</a:t>
            </a:r>
          </a:p>
          <a:p>
            <a:pPr algn="l">
              <a:lnSpc>
                <a:spcPct val="120000"/>
              </a:lnSpc>
              <a:spcBef>
                <a:spcPts val="0"/>
              </a:spcBef>
              <a:spcAft>
                <a:spcPts val="0"/>
              </a:spcAft>
              <a:defRPr sz="2100" b="0">
                <a:solidFill>
                  <a:srgbClr val="17323D"/>
                </a:solidFill>
                <a:latin typeface="Arial"/>
              </a:defRPr>
            </a:pPr>
            <a:r>
              <a:t>valid transitions.</a:t>
            </a:r>
          </a:p>
        </p:txBody>
      </p:sp>
      <p:sp>
        <p:nvSpPr>
          <p:cNvPr id="23" name="Rounded Rectangle 22"/>
          <p:cNvSpPr/>
          <p:nvPr/>
        </p:nvSpPr>
        <p:spPr>
          <a:xfrm>
            <a:off x="434340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2"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Store</a:t>
            </a:r>
          </a:p>
        </p:txBody>
      </p:sp>
      <p:sp>
        <p:nvSpPr>
          <p:cNvPr id="25" name="Rectangle 24"/>
          <p:cNvSpPr/>
          <p:nvPr/>
        </p:nvSpPr>
        <p:spPr>
          <a:xfrm>
            <a:off x="4599432"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9432"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Adjacency list:</a:t>
            </a:r>
          </a:p>
          <a:p>
            <a:pPr algn="l">
              <a:lnSpc>
                <a:spcPct val="120000"/>
              </a:lnSpc>
              <a:spcBef>
                <a:spcPts val="0"/>
              </a:spcBef>
              <a:spcAft>
                <a:spcPts val="0"/>
              </a:spcAft>
              <a:defRPr sz="2100" b="0">
                <a:solidFill>
                  <a:srgbClr val="17323D"/>
                </a:solidFill>
                <a:latin typeface="Arial"/>
              </a:defRPr>
            </a:pPr>
            <a:r>
              <a:t>O(n+m).</a:t>
            </a:r>
          </a:p>
          <a:p>
            <a:pPr algn="l">
              <a:lnSpc>
                <a:spcPct val="120000"/>
              </a:lnSpc>
              <a:spcBef>
                <a:spcPts val="0"/>
              </a:spcBef>
              <a:spcAft>
                <a:spcPts val="0"/>
              </a:spcAft>
              <a:defRPr sz="2100" b="0">
                <a:solidFill>
                  <a:srgbClr val="17323D"/>
                </a:solidFill>
                <a:latin typeface="Arial"/>
              </a:defRPr>
            </a:pPr>
            <a:r>
              <a:t>Matrix: O(n²) entries.</a:t>
            </a:r>
          </a:p>
        </p:txBody>
      </p:sp>
      <p:sp>
        <p:nvSpPr>
          <p:cNvPr id="27" name="Rounded Rectangle 26"/>
          <p:cNvSpPr/>
          <p:nvPr/>
        </p:nvSpPr>
        <p:spPr>
          <a:xfrm>
            <a:off x="809244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48471"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Generate</a:t>
            </a:r>
          </a:p>
        </p:txBody>
      </p:sp>
      <p:sp>
        <p:nvSpPr>
          <p:cNvPr id="29" name="Rectangle 28"/>
          <p:cNvSpPr/>
          <p:nvPr/>
        </p:nvSpPr>
        <p:spPr>
          <a:xfrm>
            <a:off x="8348471"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48471"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For an implicit grid,</a:t>
            </a:r>
          </a:p>
          <a:p>
            <a:pPr algn="l">
              <a:lnSpc>
                <a:spcPct val="120000"/>
              </a:lnSpc>
              <a:spcBef>
                <a:spcPts val="0"/>
              </a:spcBef>
              <a:spcAft>
                <a:spcPts val="0"/>
              </a:spcAft>
              <a:defRPr sz="2100" b="0">
                <a:solidFill>
                  <a:srgbClr val="17323D"/>
                </a:solidFill>
                <a:latin typeface="Arial"/>
              </a:defRPr>
            </a:pPr>
            <a:r>
              <a:t>compute</a:t>
            </a:r>
          </a:p>
          <a:p>
            <a:pPr algn="l">
              <a:lnSpc>
                <a:spcPct val="120000"/>
              </a:lnSpc>
              <a:spcBef>
                <a:spcPts val="0"/>
              </a:spcBef>
              <a:spcAft>
                <a:spcPts val="0"/>
              </a:spcAft>
              <a:defRPr sz="2100" b="0">
                <a:solidFill>
                  <a:srgbClr val="17323D"/>
                </a:solidFill>
                <a:latin typeface="Arial"/>
              </a:defRPr>
            </a:pPr>
            <a:r>
              <a:t>neighbors when</a:t>
            </a:r>
          </a:p>
          <a:p>
            <a:pPr algn="l">
              <a:lnSpc>
                <a:spcPct val="120000"/>
              </a:lnSpc>
              <a:spcBef>
                <a:spcPts val="0"/>
              </a:spcBef>
              <a:spcAft>
                <a:spcPts val="0"/>
              </a:spcAft>
              <a:defRPr sz="2100" b="0">
                <a:solidFill>
                  <a:srgbClr val="17323D"/>
                </a:solidFill>
                <a:latin typeface="Arial"/>
              </a:defRPr>
            </a:pPr>
            <a:r>
              <a:t>needed.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02 / ENUMERATION</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09-12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Could we simply try every route?</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What does the cycle A → B → A do to this plan?</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05</a:t>
            </a:r>
          </a:p>
        </p:txBody>
      </p:sp>
      <p:sp>
        <p:nvSpPr>
          <p:cNvPr id="19" name="Rounded Rectangle 18"/>
          <p:cNvSpPr/>
          <p:nvPr/>
        </p:nvSpPr>
        <p:spPr>
          <a:xfrm>
            <a:off x="594360" y="1801368"/>
            <a:ext cx="6967728" cy="3858768"/>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ain_graph_print.png"/>
          <p:cNvPicPr>
            <a:picLocks noChangeAspect="1"/>
          </p:cNvPicPr>
          <p:nvPr/>
        </p:nvPicPr>
        <p:blipFill>
          <a:blip r:embed="rId2"/>
          <a:stretch>
            <a:fillRect/>
          </a:stretch>
        </p:blipFill>
        <p:spPr>
          <a:xfrm>
            <a:off x="833862" y="1865376"/>
            <a:ext cx="6488723" cy="3749039"/>
          </a:xfrm>
          <a:prstGeom prst="rect">
            <a:avLst/>
          </a:prstGeom>
        </p:spPr>
      </p:pic>
      <p:sp>
        <p:nvSpPr>
          <p:cNvPr id="21" name="TextBox 20"/>
          <p:cNvSpPr txBox="1"/>
          <p:nvPr/>
        </p:nvSpPr>
        <p:spPr>
          <a:xfrm>
            <a:off x="7909560" y="2121408"/>
            <a:ext cx="3566160" cy="77724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First conjecture</a:t>
            </a:r>
          </a:p>
        </p:txBody>
      </p:sp>
      <p:sp>
        <p:nvSpPr>
          <p:cNvPr id="22" name="Rectangle 21"/>
          <p:cNvSpPr/>
          <p:nvPr/>
        </p:nvSpPr>
        <p:spPr>
          <a:xfrm>
            <a:off x="7909560" y="2898648"/>
            <a:ext cx="502920" cy="41148"/>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9560" y="3182112"/>
            <a:ext cx="3566160" cy="2331720"/>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Enumerate candidate</a:t>
            </a:r>
          </a:p>
          <a:p>
            <a:pPr algn="l">
              <a:lnSpc>
                <a:spcPct val="120000"/>
              </a:lnSpc>
              <a:spcBef>
                <a:spcPts val="0"/>
              </a:spcBef>
              <a:spcAft>
                <a:spcPts val="0"/>
              </a:spcAft>
              <a:defRPr sz="2200" b="0">
                <a:solidFill>
                  <a:srgbClr val="17323D"/>
                </a:solidFill>
                <a:latin typeface="Arial"/>
              </a:defRPr>
            </a:pPr>
            <a:r>
              <a:t>routes.</a:t>
            </a:r>
          </a:p>
          <a:p>
            <a:pPr algn="l">
              <a:lnSpc>
                <a:spcPct val="120000"/>
              </a:lnSpc>
              <a:spcBef>
                <a:spcPts val="0"/>
              </a:spcBef>
              <a:spcAft>
                <a:spcPts val="0"/>
              </a:spcAft>
              <a:defRPr sz="2200" b="0">
                <a:solidFill>
                  <a:srgbClr val="17323D"/>
                </a:solidFill>
                <a:latin typeface="Arial"/>
              </a:defRPr>
            </a:pPr>
            <a:r>
              <a:t>Add their edge costs.</a:t>
            </a:r>
          </a:p>
          <a:p>
            <a:pPr algn="l">
              <a:lnSpc>
                <a:spcPct val="120000"/>
              </a:lnSpc>
              <a:spcBef>
                <a:spcPts val="0"/>
              </a:spcBef>
              <a:spcAft>
                <a:spcPts val="0"/>
              </a:spcAft>
              <a:defRPr sz="2200" b="0">
                <a:solidFill>
                  <a:srgbClr val="17323D"/>
                </a:solidFill>
                <a:latin typeface="Arial"/>
              </a:defRPr>
            </a:pPr>
            <a:r>
              <a:t>Keep the cheapest.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LIVE CODE / CHECKPOINT 01</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12-16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Simple does not mean few.</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Many different routes reach the same intermediate state.</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R5</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06</a:t>
            </a:r>
          </a:p>
        </p:txBody>
      </p:sp>
      <p:sp>
        <p:nvSpPr>
          <p:cNvPr id="19" name="Rounded Rectangle 18"/>
          <p:cNvSpPr/>
          <p:nvPr/>
        </p:nvSpPr>
        <p:spPr>
          <a:xfrm>
            <a:off x="594360" y="1856231"/>
            <a:ext cx="7095744" cy="3785615"/>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2212848"/>
            <a:ext cx="6528816" cy="3090672"/>
          </a:xfrm>
          <a:prstGeom prst="rect">
            <a:avLst/>
          </a:prstGeom>
          <a:noFill/>
        </p:spPr>
        <p:txBody>
          <a:bodyPr wrap="none" lIns="0" rIns="0" tIns="0" bIns="0" anchor="t">
            <a:spAutoFit/>
          </a:bodyPr>
          <a:lstStyle/>
          <a:p>
            <a:pPr algn="l">
              <a:lnSpc>
                <a:spcPct val="120000"/>
              </a:lnSpc>
              <a:spcBef>
                <a:spcPts val="0"/>
              </a:spcBef>
              <a:spcAft>
                <a:spcPts val="0"/>
              </a:spcAft>
              <a:defRPr sz="1900" b="0">
                <a:solidFill>
                  <a:srgbClr val="E3F2E9"/>
                </a:solidFill>
                <a:latin typeface="Consolas"/>
              </a:defRPr>
            </a:pPr>
            <a:r>
              <a:t>for v, weight in graph[u]:</a:t>
            </a:r>
          </a:p>
          <a:p>
            <a:pPr algn="l">
              <a:lnSpc>
                <a:spcPct val="120000"/>
              </a:lnSpc>
              <a:spcBef>
                <a:spcPts val="0"/>
              </a:spcBef>
              <a:spcAft>
                <a:spcPts val="0"/>
              </a:spcAft>
              <a:defRPr sz="1900" b="0">
                <a:solidFill>
                  <a:srgbClr val="E3F2E9"/>
                </a:solidFill>
                <a:latin typeface="Consolas"/>
              </a:defRPr>
            </a:pPr>
            <a:r>
              <a:t>    if v not in on_path:</a:t>
            </a:r>
          </a:p>
          <a:p>
            <a:pPr algn="l">
              <a:lnSpc>
                <a:spcPct val="120000"/>
              </a:lnSpc>
              <a:spcBef>
                <a:spcPts val="0"/>
              </a:spcBef>
              <a:spcAft>
                <a:spcPts val="0"/>
              </a:spcAft>
              <a:defRPr sz="1900" b="0">
                <a:solidFill>
                  <a:srgbClr val="E3F2E9"/>
                </a:solidFill>
                <a:latin typeface="Consolas"/>
              </a:defRPr>
            </a:pPr>
            <a:r>
              <a:t>        explore(v, cost + weight)</a:t>
            </a:r>
          </a:p>
          <a:p>
            <a:pPr algn="l">
              <a:lnSpc>
                <a:spcPct val="120000"/>
              </a:lnSpc>
              <a:spcBef>
                <a:spcPts val="0"/>
              </a:spcBef>
              <a:spcAft>
                <a:spcPts val="0"/>
              </a:spcAft>
              <a:defRPr sz="1900" b="0">
                <a:solidFill>
                  <a:srgbClr val="E3F2E9"/>
                </a:solidFill>
                <a:latin typeface="Consolas"/>
              </a:defRPr>
            </a:pPr>
          </a:p>
          <a:p>
            <a:pPr algn="l">
              <a:lnSpc>
                <a:spcPct val="120000"/>
              </a:lnSpc>
              <a:spcBef>
                <a:spcPts val="0"/>
              </a:spcBef>
              <a:spcAft>
                <a:spcPts val="0"/>
              </a:spcAft>
              <a:defRPr sz="1900" b="0">
                <a:solidFill>
                  <a:srgbClr val="E3F2E9"/>
                </a:solidFill>
                <a:latin typeface="Consolas"/>
              </a:defRPr>
            </a:pPr>
            <a:r>
              <a:t># on_path belongs to this route.</a:t>
            </a:r>
          </a:p>
          <a:p>
            <a:pPr algn="l">
              <a:lnSpc>
                <a:spcPct val="120000"/>
              </a:lnSpc>
              <a:spcBef>
                <a:spcPts val="0"/>
              </a:spcBef>
              <a:spcAft>
                <a:spcPts val="0"/>
              </a:spcAft>
              <a:defRPr sz="1900" b="0">
                <a:solidFill>
                  <a:srgbClr val="E3F2E9"/>
                </a:solidFill>
                <a:latin typeface="Consolas"/>
              </a:defRPr>
            </a:pPr>
            <a:r>
              <a:t># It is not a global visited set.</a:t>
            </a:r>
          </a:p>
        </p:txBody>
      </p:sp>
      <p:sp>
        <p:nvSpPr>
          <p:cNvPr id="21" name="TextBox 20"/>
          <p:cNvSpPr txBox="1"/>
          <p:nvPr/>
        </p:nvSpPr>
        <p:spPr>
          <a:xfrm>
            <a:off x="8028431" y="2176272"/>
            <a:ext cx="3474720" cy="676656"/>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Predict before</a:t>
            </a:r>
          </a:p>
          <a:p>
            <a:pPr algn="l">
              <a:lnSpc>
                <a:spcPct val="120000"/>
              </a:lnSpc>
              <a:spcBef>
                <a:spcPts val="0"/>
              </a:spcBef>
              <a:spcAft>
                <a:spcPts val="0"/>
              </a:spcAft>
              <a:defRPr sz="2200" b="1">
                <a:solidFill>
                  <a:srgbClr val="17323D"/>
                </a:solidFill>
                <a:latin typeface="Arial"/>
              </a:defRPr>
            </a:pPr>
            <a:r>
              <a:t>running</a:t>
            </a:r>
          </a:p>
        </p:txBody>
      </p:sp>
      <p:sp>
        <p:nvSpPr>
          <p:cNvPr id="22" name="Rectangle 21"/>
          <p:cNvSpPr/>
          <p:nvPr/>
        </p:nvSpPr>
        <p:spPr>
          <a:xfrm>
            <a:off x="8028431" y="2971800"/>
            <a:ext cx="502920" cy="41148"/>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28431" y="3264408"/>
            <a:ext cx="3474720" cy="2240280"/>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How many complete</a:t>
            </a:r>
          </a:p>
          <a:p>
            <a:pPr algn="l">
              <a:lnSpc>
                <a:spcPct val="120000"/>
              </a:lnSpc>
              <a:spcBef>
                <a:spcPts val="0"/>
              </a:spcBef>
              <a:spcAft>
                <a:spcPts val="0"/>
              </a:spcAft>
              <a:defRPr sz="2200" b="0">
                <a:solidFill>
                  <a:srgbClr val="17323D"/>
                </a:solidFill>
                <a:latin typeface="Arial"/>
              </a:defRPr>
            </a:pPr>
            <a:r>
              <a:t>routes?</a:t>
            </a:r>
          </a:p>
          <a:p>
            <a:pPr algn="l">
              <a:lnSpc>
                <a:spcPct val="120000"/>
              </a:lnSpc>
              <a:spcBef>
                <a:spcPts val="0"/>
              </a:spcBef>
              <a:spcAft>
                <a:spcPts val="0"/>
              </a:spcAft>
              <a:defRPr sz="2200" b="0">
                <a:solidFill>
                  <a:srgbClr val="17323D"/>
                </a:solidFill>
                <a:latin typeface="Arial"/>
              </a:defRPr>
            </a:pPr>
            <a:r>
              <a:t>When would this</a:t>
            </a:r>
          </a:p>
          <a:p>
            <a:pPr algn="l">
              <a:lnSpc>
                <a:spcPct val="120000"/>
              </a:lnSpc>
              <a:spcBef>
                <a:spcPts val="0"/>
              </a:spcBef>
              <a:spcAft>
                <a:spcPts val="0"/>
              </a:spcAft>
              <a:defRPr sz="2200" b="0">
                <a:solidFill>
                  <a:srgbClr val="17323D"/>
                </a:solidFill>
                <a:latin typeface="Arial"/>
              </a:defRPr>
            </a:pPr>
            <a:r>
              <a:t>approach</a:t>
            </a:r>
          </a:p>
          <a:p>
            <a:pPr algn="l">
              <a:lnSpc>
                <a:spcPct val="120000"/>
              </a:lnSpc>
              <a:spcBef>
                <a:spcPts val="0"/>
              </a:spcBef>
              <a:spcAft>
                <a:spcPts val="0"/>
              </a:spcAft>
              <a:defRPr sz="2200" b="0">
                <a:solidFill>
                  <a:srgbClr val="17323D"/>
                </a:solidFill>
                <a:latin typeface="Arial"/>
              </a:defRPr>
            </a:pPr>
            <a:r>
              <a:t>become infeasible?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03 / KEEP ONLY WHAT CAN MATTER</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16-18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Which prefixes are already dominated?</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Best discovered is not yet proved optimal.</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R1 · R4</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07</a:t>
            </a:r>
          </a:p>
        </p:txBody>
      </p:sp>
      <p:sp>
        <p:nvSpPr>
          <p:cNvPr id="19" name="Rounded Rectangle 18"/>
          <p:cNvSpPr/>
          <p:nvPr/>
        </p:nvSpPr>
        <p:spPr>
          <a:xfrm>
            <a:off x="594360" y="1856231"/>
            <a:ext cx="10991088" cy="914400"/>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103120"/>
            <a:ext cx="10424160" cy="530352"/>
          </a:xfrm>
          <a:prstGeom prst="rect">
            <a:avLst/>
          </a:prstGeom>
          <a:noFill/>
        </p:spPr>
        <p:txBody>
          <a:bodyPr wrap="none" lIns="0" rIns="0" tIns="0" bIns="0" anchor="t">
            <a:spAutoFit/>
          </a:bodyPr>
          <a:lstStyle/>
          <a:p>
            <a:pPr algn="l">
              <a:lnSpc>
                <a:spcPct val="120000"/>
              </a:lnSpc>
              <a:spcBef>
                <a:spcPts val="0"/>
              </a:spcBef>
              <a:spcAft>
                <a:spcPts val="0"/>
              </a:spcAft>
              <a:defRPr sz="2900" b="1">
                <a:solidFill>
                  <a:srgbClr val="FFFEFB"/>
                </a:solidFill>
                <a:latin typeface="Arial"/>
              </a:defRPr>
            </a:pPr>
            <a:r>
              <a:t>Same state B:  cost 6  versus  cost 3</a:t>
            </a:r>
          </a:p>
        </p:txBody>
      </p:sp>
      <p:sp>
        <p:nvSpPr>
          <p:cNvPr id="21" name="TextBox 20"/>
          <p:cNvSpPr txBox="1"/>
          <p:nvPr/>
        </p:nvSpPr>
        <p:spPr>
          <a:xfrm>
            <a:off x="822960" y="3227832"/>
            <a:ext cx="4800600" cy="45720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087E79"/>
                </a:solidFill>
                <a:latin typeface="Arial"/>
              </a:defRPr>
            </a:pPr>
            <a:r>
              <a:t>Discard</a:t>
            </a:r>
          </a:p>
        </p:txBody>
      </p:sp>
      <p:sp>
        <p:nvSpPr>
          <p:cNvPr id="22" name="TextBox 21"/>
          <p:cNvSpPr txBox="1"/>
          <p:nvPr/>
        </p:nvSpPr>
        <p:spPr>
          <a:xfrm>
            <a:off x="822960" y="3931920"/>
            <a:ext cx="4800600" cy="1645920"/>
          </a:xfrm>
          <a:prstGeom prst="rect">
            <a:avLst/>
          </a:prstGeom>
          <a:noFill/>
        </p:spPr>
        <p:txBody>
          <a:bodyPr wrap="none" lIns="0" rIns="0" tIns="0" bIns="0" anchor="t">
            <a:spAutoFit/>
          </a:bodyPr>
          <a:lstStyle/>
          <a:p>
            <a:pPr algn="l">
              <a:lnSpc>
                <a:spcPct val="120000"/>
              </a:lnSpc>
              <a:spcBef>
                <a:spcPts val="0"/>
              </a:spcBef>
              <a:spcAft>
                <a:spcPts val="0"/>
              </a:spcAft>
              <a:defRPr sz="2300" b="0">
                <a:solidFill>
                  <a:srgbClr val="17323D"/>
                </a:solidFill>
                <a:latin typeface="Arial"/>
              </a:defRPr>
            </a:pPr>
            <a:r>
              <a:t>The more expensive prefix</a:t>
            </a:r>
          </a:p>
          <a:p>
            <a:pPr algn="l">
              <a:lnSpc>
                <a:spcPct val="120000"/>
              </a:lnSpc>
              <a:spcBef>
                <a:spcPts val="0"/>
              </a:spcBef>
              <a:spcAft>
                <a:spcPts val="0"/>
              </a:spcAft>
              <a:defRPr sz="2300" b="0">
                <a:solidFill>
                  <a:srgbClr val="17323D"/>
                </a:solidFill>
                <a:latin typeface="Arial"/>
              </a:defRPr>
            </a:pPr>
            <a:r>
              <a:t>has no advantage for the</a:t>
            </a:r>
          </a:p>
          <a:p>
            <a:pPr algn="l">
              <a:lnSpc>
                <a:spcPct val="120000"/>
              </a:lnSpc>
              <a:spcBef>
                <a:spcPts val="0"/>
              </a:spcBef>
              <a:spcAft>
                <a:spcPts val="0"/>
              </a:spcAft>
              <a:defRPr sz="2300" b="0">
                <a:solidFill>
                  <a:srgbClr val="17323D"/>
                </a:solidFill>
                <a:latin typeface="Arial"/>
              </a:defRPr>
            </a:pPr>
            <a:r>
              <a:t>remaining state-based journey.</a:t>
            </a:r>
          </a:p>
        </p:txBody>
      </p:sp>
      <p:sp>
        <p:nvSpPr>
          <p:cNvPr id="23" name="TextBox 22"/>
          <p:cNvSpPr txBox="1"/>
          <p:nvPr/>
        </p:nvSpPr>
        <p:spPr>
          <a:xfrm>
            <a:off x="6309360" y="3227832"/>
            <a:ext cx="4800600" cy="45720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087E79"/>
                </a:solidFill>
                <a:latin typeface="Arial"/>
              </a:defRPr>
            </a:pPr>
            <a:r>
              <a:t>Remember</a:t>
            </a:r>
          </a:p>
        </p:txBody>
      </p:sp>
      <p:sp>
        <p:nvSpPr>
          <p:cNvPr id="24" name="TextBox 23"/>
          <p:cNvSpPr txBox="1"/>
          <p:nvPr/>
        </p:nvSpPr>
        <p:spPr>
          <a:xfrm>
            <a:off x="6309360" y="3931920"/>
            <a:ext cx="4800600" cy="1645920"/>
          </a:xfrm>
          <a:prstGeom prst="rect">
            <a:avLst/>
          </a:prstGeom>
          <a:noFill/>
        </p:spPr>
        <p:txBody>
          <a:bodyPr wrap="none" lIns="0" rIns="0" tIns="0" bIns="0" anchor="t">
            <a:spAutoFit/>
          </a:bodyPr>
          <a:lstStyle/>
          <a:p>
            <a:pPr algn="l">
              <a:lnSpc>
                <a:spcPct val="120000"/>
              </a:lnSpc>
              <a:spcBef>
                <a:spcPts val="0"/>
              </a:spcBef>
              <a:spcAft>
                <a:spcPts val="0"/>
              </a:spcAft>
              <a:defRPr sz="2300" b="0">
                <a:solidFill>
                  <a:srgbClr val="17323D"/>
                </a:solidFill>
                <a:latin typeface="Arial"/>
              </a:defRPr>
            </a:pPr>
            <a:r>
              <a:t>g(v): best discovered cost.</a:t>
            </a:r>
          </a:p>
          <a:p>
            <a:pPr algn="l">
              <a:lnSpc>
                <a:spcPct val="120000"/>
              </a:lnSpc>
              <a:spcBef>
                <a:spcPts val="0"/>
              </a:spcBef>
              <a:spcAft>
                <a:spcPts val="0"/>
              </a:spcAft>
              <a:defRPr sz="2300" b="0">
                <a:solidFill>
                  <a:srgbClr val="17323D"/>
                </a:solidFill>
                <a:latin typeface="Arial"/>
              </a:defRPr>
            </a:pPr>
            <a:r>
              <a:t>parent(v): predecessor for</a:t>
            </a:r>
          </a:p>
          <a:p>
            <a:pPr algn="l">
              <a:lnSpc>
                <a:spcPct val="120000"/>
              </a:lnSpc>
              <a:spcBef>
                <a:spcPts val="0"/>
              </a:spcBef>
              <a:spcAft>
                <a:spcPts val="0"/>
              </a:spcAft>
              <a:defRPr sz="2300" b="0">
                <a:solidFill>
                  <a:srgbClr val="17323D"/>
                </a:solidFill>
                <a:latin typeface="Arial"/>
              </a:defRPr>
            </a:pPr>
            <a:r>
              <a:t>that improving route.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RELAXATION + FRONTIER ORDER</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18-22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What should we process next?</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candidate = g(u) + c(u,v)    ·    accept only a strict improvement</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R1</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08</a:t>
            </a:r>
          </a:p>
        </p:txBody>
      </p:sp>
      <p:sp>
        <p:nvSpPr>
          <p:cNvPr id="19" name="Rounded Rectangle 18"/>
          <p:cNvSpPr/>
          <p:nvPr/>
        </p:nvSpPr>
        <p:spPr>
          <a:xfrm>
            <a:off x="594360" y="1801368"/>
            <a:ext cx="6967728" cy="3858768"/>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ain_graph.png"/>
          <p:cNvPicPr>
            <a:picLocks noChangeAspect="1"/>
          </p:cNvPicPr>
          <p:nvPr/>
        </p:nvPicPr>
        <p:blipFill>
          <a:blip r:embed="rId2"/>
          <a:stretch>
            <a:fillRect/>
          </a:stretch>
        </p:blipFill>
        <p:spPr>
          <a:xfrm>
            <a:off x="833862" y="1865376"/>
            <a:ext cx="6488723" cy="3749039"/>
          </a:xfrm>
          <a:prstGeom prst="rect">
            <a:avLst/>
          </a:prstGeom>
        </p:spPr>
      </p:pic>
      <p:sp>
        <p:nvSpPr>
          <p:cNvPr id="21" name="TextBox 20"/>
          <p:cNvSpPr txBox="1"/>
          <p:nvPr/>
        </p:nvSpPr>
        <p:spPr>
          <a:xfrm>
            <a:off x="7909560" y="2121408"/>
            <a:ext cx="3566160" cy="77724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After expanding S</a:t>
            </a:r>
          </a:p>
        </p:txBody>
      </p:sp>
      <p:sp>
        <p:nvSpPr>
          <p:cNvPr id="22" name="Rectangle 21"/>
          <p:cNvSpPr/>
          <p:nvPr/>
        </p:nvSpPr>
        <p:spPr>
          <a:xfrm>
            <a:off x="7909560" y="2898648"/>
            <a:ext cx="502920" cy="41148"/>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9560" y="3182112"/>
            <a:ext cx="3566160" cy="2331720"/>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A: 2</a:t>
            </a:r>
          </a:p>
          <a:p>
            <a:pPr algn="l">
              <a:lnSpc>
                <a:spcPct val="120000"/>
              </a:lnSpc>
              <a:spcBef>
                <a:spcPts val="0"/>
              </a:spcBef>
              <a:spcAft>
                <a:spcPts val="0"/>
              </a:spcAft>
              <a:defRPr sz="2200" b="0">
                <a:solidFill>
                  <a:srgbClr val="17323D"/>
                </a:solidFill>
                <a:latin typeface="Arial"/>
              </a:defRPr>
            </a:pPr>
            <a:r>
              <a:t>B: 6</a:t>
            </a:r>
          </a:p>
          <a:p>
            <a:pPr algn="l">
              <a:lnSpc>
                <a:spcPct val="120000"/>
              </a:lnSpc>
              <a:spcBef>
                <a:spcPts val="0"/>
              </a:spcBef>
              <a:spcAft>
                <a:spcPts val="0"/>
              </a:spcAft>
              <a:defRPr sz="2200" b="0">
                <a:solidFill>
                  <a:srgbClr val="17323D"/>
                </a:solidFill>
                <a:latin typeface="Arial"/>
              </a:defRPr>
            </a:pPr>
            <a:r>
              <a:t>D: 2</a:t>
            </a:r>
          </a:p>
          <a:p>
            <a:pPr algn="l">
              <a:lnSpc>
                <a:spcPct val="120000"/>
              </a:lnSpc>
              <a:spcBef>
                <a:spcPts val="0"/>
              </a:spcBef>
              <a:spcAft>
                <a:spcPts val="0"/>
              </a:spcAft>
              <a:defRPr sz="2200" b="0">
                <a:solidFill>
                  <a:srgbClr val="17323D"/>
                </a:solidFill>
                <a:latin typeface="Arial"/>
              </a:defRPr>
            </a:pPr>
            <a:r>
              <a:t>T: 15</a:t>
            </a:r>
          </a:p>
          <a:p>
            <a:pPr algn="l">
              <a:lnSpc>
                <a:spcPct val="120000"/>
              </a:lnSpc>
              <a:spcBef>
                <a:spcPts val="0"/>
              </a:spcBef>
              <a:spcAft>
                <a:spcPts val="0"/>
              </a:spcAft>
              <a:defRPr sz="2200" b="0">
                <a:solidFill>
                  <a:srgbClr val="17323D"/>
                </a:solidFill>
                <a:latin typeface="Arial"/>
              </a:defRPr>
            </a:pPr>
          </a:p>
          <a:p>
            <a:pPr algn="l">
              <a:lnSpc>
                <a:spcPct val="120000"/>
              </a:lnSpc>
              <a:spcBef>
                <a:spcPts val="0"/>
              </a:spcBef>
              <a:spcAft>
                <a:spcPts val="0"/>
              </a:spcAft>
              <a:defRPr sz="2200" b="0">
                <a:solidFill>
                  <a:srgbClr val="17323D"/>
                </a:solidFill>
                <a:latin typeface="Arial"/>
              </a:defRPr>
            </a:pPr>
            <a:r>
              <a:t>Choose the smallest 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PROOF OBLIGATION</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22-26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Why is the smallest label final?</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Minimum extraction forces  g(u) ≤ g(y) ≤ optimal cost to u.</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R1 · R4</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09</a:t>
            </a:r>
          </a:p>
        </p:txBody>
      </p:sp>
      <p:sp>
        <p:nvSpPr>
          <p:cNvPr id="19" name="Rounded Rectangle 18"/>
          <p:cNvSpPr/>
          <p:nvPr/>
        </p:nvSpPr>
        <p:spPr>
          <a:xfrm>
            <a:off x="594360" y="1856231"/>
            <a:ext cx="10991088" cy="1024128"/>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2066543"/>
            <a:ext cx="457200" cy="512064"/>
          </a:xfrm>
          <a:prstGeom prst="rect">
            <a:avLst/>
          </a:prstGeom>
          <a:noFill/>
        </p:spPr>
        <p:txBody>
          <a:bodyPr wrap="none" lIns="0" rIns="0" tIns="0" bIns="0" anchor="t">
            <a:spAutoFit/>
          </a:bodyPr>
          <a:lstStyle/>
          <a:p>
            <a:pPr algn="l">
              <a:lnSpc>
                <a:spcPct val="120000"/>
              </a:lnSpc>
              <a:spcBef>
                <a:spcPts val="0"/>
              </a:spcBef>
              <a:spcAft>
                <a:spcPts val="0"/>
              </a:spcAft>
              <a:defRPr sz="2800" b="1">
                <a:solidFill>
                  <a:srgbClr val="087E79"/>
                </a:solidFill>
                <a:latin typeface="Arial"/>
              </a:defRPr>
            </a:pPr>
            <a:r>
              <a:t>1</a:t>
            </a:r>
          </a:p>
        </p:txBody>
      </p:sp>
      <p:sp>
        <p:nvSpPr>
          <p:cNvPr id="21" name="TextBox 20"/>
          <p:cNvSpPr txBox="1"/>
          <p:nvPr/>
        </p:nvSpPr>
        <p:spPr>
          <a:xfrm>
            <a:off x="1536192" y="2002536"/>
            <a:ext cx="1920240" cy="694944"/>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Assume</a:t>
            </a:r>
          </a:p>
        </p:txBody>
      </p:sp>
      <p:sp>
        <p:nvSpPr>
          <p:cNvPr id="22" name="TextBox 21"/>
          <p:cNvSpPr txBox="1"/>
          <p:nvPr/>
        </p:nvSpPr>
        <p:spPr>
          <a:xfrm>
            <a:off x="3575304" y="2020824"/>
            <a:ext cx="7589520" cy="722376"/>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There is a cheaper route to the selected u.</a:t>
            </a:r>
          </a:p>
        </p:txBody>
      </p:sp>
      <p:sp>
        <p:nvSpPr>
          <p:cNvPr id="23" name="Rounded Rectangle 22"/>
          <p:cNvSpPr/>
          <p:nvPr/>
        </p:nvSpPr>
        <p:spPr>
          <a:xfrm>
            <a:off x="594360" y="3099815"/>
            <a:ext cx="10991088" cy="1024128"/>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3310127"/>
            <a:ext cx="457200" cy="512064"/>
          </a:xfrm>
          <a:prstGeom prst="rect">
            <a:avLst/>
          </a:prstGeom>
          <a:noFill/>
        </p:spPr>
        <p:txBody>
          <a:bodyPr wrap="none" lIns="0" rIns="0" tIns="0" bIns="0" anchor="t">
            <a:spAutoFit/>
          </a:bodyPr>
          <a:lstStyle/>
          <a:p>
            <a:pPr algn="l">
              <a:lnSpc>
                <a:spcPct val="120000"/>
              </a:lnSpc>
              <a:spcBef>
                <a:spcPts val="0"/>
              </a:spcBef>
              <a:spcAft>
                <a:spcPts val="0"/>
              </a:spcAft>
              <a:defRPr sz="2800" b="1">
                <a:solidFill>
                  <a:srgbClr val="087E79"/>
                </a:solidFill>
                <a:latin typeface="Arial"/>
              </a:defRPr>
            </a:pPr>
            <a:r>
              <a:t>2</a:t>
            </a:r>
          </a:p>
        </p:txBody>
      </p:sp>
      <p:sp>
        <p:nvSpPr>
          <p:cNvPr id="25" name="TextBox 24"/>
          <p:cNvSpPr txBox="1"/>
          <p:nvPr/>
        </p:nvSpPr>
        <p:spPr>
          <a:xfrm>
            <a:off x="1536192" y="3246120"/>
            <a:ext cx="1920240" cy="694944"/>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Find</a:t>
            </a:r>
          </a:p>
        </p:txBody>
      </p:sp>
      <p:sp>
        <p:nvSpPr>
          <p:cNvPr id="26" name="TextBox 25"/>
          <p:cNvSpPr txBox="1"/>
          <p:nvPr/>
        </p:nvSpPr>
        <p:spPr>
          <a:xfrm>
            <a:off x="3575304" y="3264408"/>
            <a:ext cx="7589520" cy="722376"/>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Take its first unfinalized node y and predecessor x.</a:t>
            </a:r>
          </a:p>
        </p:txBody>
      </p:sp>
      <p:sp>
        <p:nvSpPr>
          <p:cNvPr id="27" name="Rounded Rectangle 26"/>
          <p:cNvSpPr/>
          <p:nvPr/>
        </p:nvSpPr>
        <p:spPr>
          <a:xfrm>
            <a:off x="594360" y="4343400"/>
            <a:ext cx="10991088" cy="1024128"/>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 y="4553712"/>
            <a:ext cx="457200" cy="512064"/>
          </a:xfrm>
          <a:prstGeom prst="rect">
            <a:avLst/>
          </a:prstGeom>
          <a:noFill/>
        </p:spPr>
        <p:txBody>
          <a:bodyPr wrap="none" lIns="0" rIns="0" tIns="0" bIns="0" anchor="t">
            <a:spAutoFit/>
          </a:bodyPr>
          <a:lstStyle/>
          <a:p>
            <a:pPr algn="l">
              <a:lnSpc>
                <a:spcPct val="120000"/>
              </a:lnSpc>
              <a:spcBef>
                <a:spcPts val="0"/>
              </a:spcBef>
              <a:spcAft>
                <a:spcPts val="0"/>
              </a:spcAft>
              <a:defRPr sz="2800" b="1">
                <a:solidFill>
                  <a:srgbClr val="087E79"/>
                </a:solidFill>
                <a:latin typeface="Arial"/>
              </a:defRPr>
            </a:pPr>
            <a:r>
              <a:t>3</a:t>
            </a:r>
          </a:p>
        </p:txBody>
      </p:sp>
      <p:sp>
        <p:nvSpPr>
          <p:cNvPr id="29" name="TextBox 28"/>
          <p:cNvSpPr txBox="1"/>
          <p:nvPr/>
        </p:nvSpPr>
        <p:spPr>
          <a:xfrm>
            <a:off x="1536192" y="4489704"/>
            <a:ext cx="1920240" cy="694944"/>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Compare</a:t>
            </a:r>
          </a:p>
        </p:txBody>
      </p:sp>
      <p:sp>
        <p:nvSpPr>
          <p:cNvPr id="30" name="TextBox 29"/>
          <p:cNvSpPr txBox="1"/>
          <p:nvPr/>
        </p:nvSpPr>
        <p:spPr>
          <a:xfrm>
            <a:off x="3575304" y="4507992"/>
            <a:ext cx="7589520" cy="722376"/>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Relaxation exposed y; a nonnegative suffix cannot lower</a:t>
            </a:r>
          </a:p>
          <a:p>
            <a:pPr algn="l">
              <a:lnSpc>
                <a:spcPct val="120000"/>
              </a:lnSpc>
              <a:spcBef>
                <a:spcPts val="0"/>
              </a:spcBef>
              <a:spcAft>
                <a:spcPts val="0"/>
              </a:spcAft>
              <a:defRPr sz="2000" b="0">
                <a:solidFill>
                  <a:srgbClr val="17323D"/>
                </a:solidFill>
                <a:latin typeface="Arial"/>
              </a:defRPr>
            </a:pPr>
            <a:r>
              <a:t>cost.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COUNTEREXAMPLE / NEGATIVE EDGE</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26-28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Attack the assumption, not the conclusion.</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Which exact line of the finalization argument breaks?</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R1 · R4</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10</a:t>
            </a:r>
          </a:p>
        </p:txBody>
      </p:sp>
      <p:sp>
        <p:nvSpPr>
          <p:cNvPr id="19" name="Rounded Rectangle 18"/>
          <p:cNvSpPr/>
          <p:nvPr/>
        </p:nvSpPr>
        <p:spPr>
          <a:xfrm>
            <a:off x="594360" y="1801368"/>
            <a:ext cx="6967728" cy="3858768"/>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negative_graph.png"/>
          <p:cNvPicPr>
            <a:picLocks noChangeAspect="1"/>
          </p:cNvPicPr>
          <p:nvPr/>
        </p:nvPicPr>
        <p:blipFill>
          <a:blip r:embed="rId2"/>
          <a:stretch>
            <a:fillRect/>
          </a:stretch>
        </p:blipFill>
        <p:spPr>
          <a:xfrm>
            <a:off x="833862" y="1865376"/>
            <a:ext cx="6488723" cy="3749039"/>
          </a:xfrm>
          <a:prstGeom prst="rect">
            <a:avLst/>
          </a:prstGeom>
        </p:spPr>
      </p:pic>
      <p:sp>
        <p:nvSpPr>
          <p:cNvPr id="21" name="TextBox 20"/>
          <p:cNvSpPr txBox="1"/>
          <p:nvPr/>
        </p:nvSpPr>
        <p:spPr>
          <a:xfrm>
            <a:off x="7909560" y="2121408"/>
            <a:ext cx="3566160" cy="77724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Predict the failure</a:t>
            </a:r>
          </a:p>
        </p:txBody>
      </p:sp>
      <p:sp>
        <p:nvSpPr>
          <p:cNvPr id="22" name="Rectangle 21"/>
          <p:cNvSpPr/>
          <p:nvPr/>
        </p:nvSpPr>
        <p:spPr>
          <a:xfrm>
            <a:off x="7909560" y="2898648"/>
            <a:ext cx="502920" cy="41148"/>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9560" y="3182112"/>
            <a:ext cx="3566160" cy="2331720"/>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Which goal cost is</a:t>
            </a:r>
          </a:p>
          <a:p>
            <a:pPr algn="l">
              <a:lnSpc>
                <a:spcPct val="120000"/>
              </a:lnSpc>
              <a:spcBef>
                <a:spcPts val="0"/>
              </a:spcBef>
              <a:spcAft>
                <a:spcPts val="0"/>
              </a:spcAft>
              <a:defRPr sz="2200" b="0">
                <a:solidFill>
                  <a:srgbClr val="17323D"/>
                </a:solidFill>
                <a:latin typeface="Arial"/>
              </a:defRPr>
            </a:pPr>
            <a:r>
              <a:t>extracted first?</a:t>
            </a:r>
          </a:p>
          <a:p>
            <a:pPr algn="l">
              <a:lnSpc>
                <a:spcPct val="120000"/>
              </a:lnSpc>
              <a:spcBef>
                <a:spcPts val="0"/>
              </a:spcBef>
              <a:spcAft>
                <a:spcPts val="0"/>
              </a:spcAft>
              <a:defRPr sz="2200" b="0">
                <a:solidFill>
                  <a:srgbClr val="17323D"/>
                </a:solidFill>
                <a:latin typeface="Arial"/>
              </a:defRPr>
            </a:pPr>
          </a:p>
          <a:p>
            <a:pPr algn="l">
              <a:lnSpc>
                <a:spcPct val="120000"/>
              </a:lnSpc>
              <a:spcBef>
                <a:spcPts val="0"/>
              </a:spcBef>
              <a:spcAft>
                <a:spcPts val="0"/>
              </a:spcAft>
              <a:defRPr sz="2200" b="0">
                <a:solidFill>
                  <a:srgbClr val="17323D"/>
                </a:solidFill>
                <a:latin typeface="Arial"/>
              </a:defRPr>
            </a:pPr>
            <a:r>
              <a:t>Can a later suffix</a:t>
            </a:r>
          </a:p>
          <a:p>
            <a:pPr algn="l">
              <a:lnSpc>
                <a:spcPct val="120000"/>
              </a:lnSpc>
              <a:spcBef>
                <a:spcPts val="0"/>
              </a:spcBef>
              <a:spcAft>
                <a:spcPts val="0"/>
              </a:spcAft>
              <a:defRPr sz="2200" b="0">
                <a:solidFill>
                  <a:srgbClr val="17323D"/>
                </a:solidFill>
                <a:latin typeface="Arial"/>
              </a:defRPr>
            </a:pPr>
            <a:r>
              <a:t>make a route cheaper?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LIVE CODE / CHECKPOINT 02</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28-34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Make the proof executable.</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A queue entry is a proposal about a route, not a certificate.</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R2</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11</a:t>
            </a:r>
          </a:p>
        </p:txBody>
      </p:sp>
      <p:sp>
        <p:nvSpPr>
          <p:cNvPr id="19" name="Rounded Rectangle 18"/>
          <p:cNvSpPr/>
          <p:nvPr/>
        </p:nvSpPr>
        <p:spPr>
          <a:xfrm>
            <a:off x="594360" y="1856231"/>
            <a:ext cx="7095744" cy="3785615"/>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2212848"/>
            <a:ext cx="6528816" cy="3090672"/>
          </a:xfrm>
          <a:prstGeom prst="rect">
            <a:avLst/>
          </a:prstGeom>
          <a:noFill/>
        </p:spPr>
        <p:txBody>
          <a:bodyPr wrap="none" lIns="0" rIns="0" tIns="0" bIns="0" anchor="t">
            <a:spAutoFit/>
          </a:bodyPr>
          <a:lstStyle/>
          <a:p>
            <a:pPr algn="l">
              <a:lnSpc>
                <a:spcPct val="120000"/>
              </a:lnSpc>
              <a:spcBef>
                <a:spcPts val="0"/>
              </a:spcBef>
              <a:spcAft>
                <a:spcPts val="0"/>
              </a:spcAft>
              <a:defRPr sz="1900" b="0">
                <a:solidFill>
                  <a:srgbClr val="E3F2E9"/>
                </a:solidFill>
                <a:latin typeface="Consolas"/>
              </a:defRPr>
            </a:pPr>
            <a:r>
              <a:t>candidate = popped_g + weight</a:t>
            </a:r>
          </a:p>
          <a:p>
            <a:pPr algn="l">
              <a:lnSpc>
                <a:spcPct val="120000"/>
              </a:lnSpc>
              <a:spcBef>
                <a:spcPts val="0"/>
              </a:spcBef>
              <a:spcAft>
                <a:spcPts val="0"/>
              </a:spcAft>
              <a:defRPr sz="1900" b="0">
                <a:solidFill>
                  <a:srgbClr val="E3F2E9"/>
                </a:solidFill>
                <a:latin typeface="Consolas"/>
              </a:defRPr>
            </a:pPr>
            <a:r>
              <a:t>if candidate &lt; dist[v]:</a:t>
            </a:r>
          </a:p>
          <a:p>
            <a:pPr algn="l">
              <a:lnSpc>
                <a:spcPct val="120000"/>
              </a:lnSpc>
              <a:spcBef>
                <a:spcPts val="0"/>
              </a:spcBef>
              <a:spcAft>
                <a:spcPts val="0"/>
              </a:spcAft>
              <a:defRPr sz="1900" b="0">
                <a:solidFill>
                  <a:srgbClr val="E3F2E9"/>
                </a:solidFill>
                <a:latin typeface="Consolas"/>
              </a:defRPr>
            </a:pPr>
            <a:r>
              <a:t>    dist[v] = candidate</a:t>
            </a:r>
          </a:p>
          <a:p>
            <a:pPr algn="l">
              <a:lnSpc>
                <a:spcPct val="120000"/>
              </a:lnSpc>
              <a:spcBef>
                <a:spcPts val="0"/>
              </a:spcBef>
              <a:spcAft>
                <a:spcPts val="0"/>
              </a:spcAft>
              <a:defRPr sz="1900" b="0">
                <a:solidFill>
                  <a:srgbClr val="E3F2E9"/>
                </a:solidFill>
                <a:latin typeface="Consolas"/>
              </a:defRPr>
            </a:pPr>
            <a:r>
              <a:t>    parent[v] = u</a:t>
            </a:r>
          </a:p>
          <a:p>
            <a:pPr algn="l">
              <a:lnSpc>
                <a:spcPct val="120000"/>
              </a:lnSpc>
              <a:spcBef>
                <a:spcPts val="0"/>
              </a:spcBef>
              <a:spcAft>
                <a:spcPts val="0"/>
              </a:spcAft>
              <a:defRPr sz="1900" b="0">
                <a:solidFill>
                  <a:srgbClr val="E3F2E9"/>
                </a:solidFill>
                <a:latin typeface="Consolas"/>
              </a:defRPr>
            </a:pPr>
            <a:r>
              <a:t>    heappush(queue,</a:t>
            </a:r>
          </a:p>
          <a:p>
            <a:pPr algn="l">
              <a:lnSpc>
                <a:spcPct val="120000"/>
              </a:lnSpc>
              <a:spcBef>
                <a:spcPts val="0"/>
              </a:spcBef>
              <a:spcAft>
                <a:spcPts val="0"/>
              </a:spcAft>
              <a:defRPr sz="1900" b="0">
                <a:solidFill>
                  <a:srgbClr val="E3F2E9"/>
                </a:solidFill>
                <a:latin typeface="Consolas"/>
              </a:defRPr>
            </a:pPr>
            <a:r>
              <a:t>             (candidate, ticket, v))</a:t>
            </a:r>
          </a:p>
        </p:txBody>
      </p:sp>
      <p:sp>
        <p:nvSpPr>
          <p:cNvPr id="21" name="TextBox 20"/>
          <p:cNvSpPr txBox="1"/>
          <p:nvPr/>
        </p:nvSpPr>
        <p:spPr>
          <a:xfrm>
            <a:off x="8028431" y="2176272"/>
            <a:ext cx="3474720" cy="676656"/>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Three decisions</a:t>
            </a:r>
          </a:p>
        </p:txBody>
      </p:sp>
      <p:sp>
        <p:nvSpPr>
          <p:cNvPr id="22" name="Rectangle 21"/>
          <p:cNvSpPr/>
          <p:nvPr/>
        </p:nvSpPr>
        <p:spPr>
          <a:xfrm>
            <a:off x="8028431" y="2971800"/>
            <a:ext cx="502920" cy="41148"/>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28431" y="3264408"/>
            <a:ext cx="3474720" cy="2240280"/>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Accumulate route cost.</a:t>
            </a:r>
          </a:p>
          <a:p>
            <a:pPr algn="l">
              <a:lnSpc>
                <a:spcPct val="120000"/>
              </a:lnSpc>
              <a:spcBef>
                <a:spcPts val="0"/>
              </a:spcBef>
              <a:spcAft>
                <a:spcPts val="0"/>
              </a:spcAft>
              <a:defRPr sz="2200" b="0">
                <a:solidFill>
                  <a:srgbClr val="17323D"/>
                </a:solidFill>
                <a:latin typeface="Arial"/>
              </a:defRPr>
            </a:pPr>
            <a:r>
              <a:t>Keep only strict</a:t>
            </a:r>
          </a:p>
          <a:p>
            <a:pPr algn="l">
              <a:lnSpc>
                <a:spcPct val="120000"/>
              </a:lnSpc>
              <a:spcBef>
                <a:spcPts val="0"/>
              </a:spcBef>
              <a:spcAft>
                <a:spcPts val="0"/>
              </a:spcAft>
              <a:defRPr sz="2200" b="0">
                <a:solidFill>
                  <a:srgbClr val="17323D"/>
                </a:solidFill>
                <a:latin typeface="Arial"/>
              </a:defRPr>
            </a:pPr>
            <a:r>
              <a:t>improvements.</a:t>
            </a:r>
          </a:p>
          <a:p>
            <a:pPr algn="l">
              <a:lnSpc>
                <a:spcPct val="120000"/>
              </a:lnSpc>
              <a:spcBef>
                <a:spcPts val="0"/>
              </a:spcBef>
              <a:spcAft>
                <a:spcPts val="0"/>
              </a:spcAft>
              <a:defRPr sz="2200" b="0">
                <a:solidFill>
                  <a:srgbClr val="17323D"/>
                </a:solidFill>
                <a:latin typeface="Arial"/>
              </a:defRPr>
            </a:pPr>
            <a:r>
              <a:t>Schedule the improved</a:t>
            </a:r>
          </a:p>
          <a:p>
            <a:pPr algn="l">
              <a:lnSpc>
                <a:spcPct val="120000"/>
              </a:lnSpc>
              <a:spcBef>
                <a:spcPts val="0"/>
              </a:spcBef>
              <a:spcAft>
                <a:spcPts val="0"/>
              </a:spcAft>
              <a:defRPr sz="2200" b="0">
                <a:solidFill>
                  <a:srgbClr val="17323D"/>
                </a:solidFill>
                <a:latin typeface="Arial"/>
              </a:defRPr>
            </a:pPr>
            <a:r>
              <a:t>route.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LAZY QUEUE / CHECKPOINT 03</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34-38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What happens to the old B = 6 entry?</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Update parent(v) on every improvement, not just first discovery.</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R2</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12</a:t>
            </a:r>
          </a:p>
        </p:txBody>
      </p:sp>
      <p:sp>
        <p:nvSpPr>
          <p:cNvPr id="19" name="Rounded Rectangle 18"/>
          <p:cNvSpPr/>
          <p:nvPr/>
        </p:nvSpPr>
        <p:spPr>
          <a:xfrm>
            <a:off x="594360" y="1856231"/>
            <a:ext cx="7095744" cy="3785615"/>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2212848"/>
            <a:ext cx="6528816" cy="3090672"/>
          </a:xfrm>
          <a:prstGeom prst="rect">
            <a:avLst/>
          </a:prstGeom>
          <a:noFill/>
        </p:spPr>
        <p:txBody>
          <a:bodyPr wrap="none" lIns="0" rIns="0" tIns="0" bIns="0" anchor="t">
            <a:spAutoFit/>
          </a:bodyPr>
          <a:lstStyle/>
          <a:p>
            <a:pPr algn="l">
              <a:lnSpc>
                <a:spcPct val="120000"/>
              </a:lnSpc>
              <a:spcBef>
                <a:spcPts val="0"/>
              </a:spcBef>
              <a:spcAft>
                <a:spcPts val="0"/>
              </a:spcAft>
              <a:defRPr sz="1900" b="0">
                <a:solidFill>
                  <a:srgbClr val="E3F2E9"/>
                </a:solidFill>
                <a:latin typeface="Consolas"/>
              </a:defRPr>
            </a:pPr>
            <a:r>
              <a:t>popped_g, _, u = heappop(queue)</a:t>
            </a:r>
          </a:p>
          <a:p>
            <a:pPr algn="l">
              <a:lnSpc>
                <a:spcPct val="120000"/>
              </a:lnSpc>
              <a:spcBef>
                <a:spcPts val="0"/>
              </a:spcBef>
              <a:spcAft>
                <a:spcPts val="0"/>
              </a:spcAft>
              <a:defRPr sz="1900" b="0">
                <a:solidFill>
                  <a:srgbClr val="E3F2E9"/>
                </a:solidFill>
                <a:latin typeface="Consolas"/>
              </a:defRPr>
            </a:pPr>
            <a:r>
              <a:t>if popped_g != dist[u]:</a:t>
            </a:r>
          </a:p>
          <a:p>
            <a:pPr algn="l">
              <a:lnSpc>
                <a:spcPct val="120000"/>
              </a:lnSpc>
              <a:spcBef>
                <a:spcPts val="0"/>
              </a:spcBef>
              <a:spcAft>
                <a:spcPts val="0"/>
              </a:spcAft>
              <a:defRPr sz="1900" b="0">
                <a:solidFill>
                  <a:srgbClr val="E3F2E9"/>
                </a:solidFill>
                <a:latin typeface="Consolas"/>
              </a:defRPr>
            </a:pPr>
            <a:r>
              <a:t>    continue</a:t>
            </a:r>
          </a:p>
          <a:p>
            <a:pPr algn="l">
              <a:lnSpc>
                <a:spcPct val="120000"/>
              </a:lnSpc>
              <a:spcBef>
                <a:spcPts val="0"/>
              </a:spcBef>
              <a:spcAft>
                <a:spcPts val="0"/>
              </a:spcAft>
              <a:defRPr sz="1900" b="0">
                <a:solidFill>
                  <a:srgbClr val="E3F2E9"/>
                </a:solidFill>
                <a:latin typeface="Consolas"/>
              </a:defRPr>
            </a:pPr>
          </a:p>
          <a:p>
            <a:pPr algn="l">
              <a:lnSpc>
                <a:spcPct val="120000"/>
              </a:lnSpc>
              <a:spcBef>
                <a:spcPts val="0"/>
              </a:spcBef>
              <a:spcAft>
                <a:spcPts val="0"/>
              </a:spcAft>
              <a:defRPr sz="1900" b="0">
                <a:solidFill>
                  <a:srgbClr val="E3F2E9"/>
                </a:solidFill>
                <a:latin typeface="Consolas"/>
              </a:defRPr>
            </a:pPr>
            <a:r>
              <a:t># B=3 superseded B=6.</a:t>
            </a:r>
          </a:p>
          <a:p>
            <a:pPr algn="l">
              <a:lnSpc>
                <a:spcPct val="120000"/>
              </a:lnSpc>
              <a:spcBef>
                <a:spcPts val="0"/>
              </a:spcBef>
              <a:spcAft>
                <a:spcPts val="0"/>
              </a:spcAft>
              <a:defRPr sz="1900" b="0">
                <a:solidFill>
                  <a:srgbClr val="E3F2E9"/>
                </a:solidFill>
                <a:latin typeface="Consolas"/>
              </a:defRPr>
            </a:pPr>
            <a:r>
              <a:t># C=4 superseded C=8.</a:t>
            </a:r>
          </a:p>
        </p:txBody>
      </p:sp>
      <p:sp>
        <p:nvSpPr>
          <p:cNvPr id="21" name="TextBox 20"/>
          <p:cNvSpPr txBox="1"/>
          <p:nvPr/>
        </p:nvSpPr>
        <p:spPr>
          <a:xfrm>
            <a:off x="8028431" y="2176272"/>
            <a:ext cx="3474720" cy="676656"/>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Two separate records</a:t>
            </a:r>
          </a:p>
        </p:txBody>
      </p:sp>
      <p:sp>
        <p:nvSpPr>
          <p:cNvPr id="22" name="Rectangle 21"/>
          <p:cNvSpPr/>
          <p:nvPr/>
        </p:nvSpPr>
        <p:spPr>
          <a:xfrm>
            <a:off x="8028431" y="2971800"/>
            <a:ext cx="502920" cy="41148"/>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28431" y="3264408"/>
            <a:ext cx="3474720" cy="2240280"/>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Keep the new route.</a:t>
            </a:r>
          </a:p>
          <a:p>
            <a:pPr algn="l">
              <a:lnSpc>
                <a:spcPct val="120000"/>
              </a:lnSpc>
              <a:spcBef>
                <a:spcPts val="0"/>
              </a:spcBef>
              <a:spcAft>
                <a:spcPts val="0"/>
              </a:spcAft>
              <a:defRPr sz="2200" b="0">
                <a:solidFill>
                  <a:srgbClr val="17323D"/>
                </a:solidFill>
                <a:latin typeface="Arial"/>
              </a:defRPr>
            </a:pPr>
            <a:r>
              <a:t>Leave the old record in</a:t>
            </a:r>
          </a:p>
          <a:p>
            <a:pPr algn="l">
              <a:lnSpc>
                <a:spcPct val="120000"/>
              </a:lnSpc>
              <a:spcBef>
                <a:spcPts val="0"/>
              </a:spcBef>
              <a:spcAft>
                <a:spcPts val="0"/>
              </a:spcAft>
              <a:defRPr sz="2200" b="0">
                <a:solidFill>
                  <a:srgbClr val="17323D"/>
                </a:solidFill>
                <a:latin typeface="Arial"/>
              </a:defRPr>
            </a:pPr>
            <a:r>
              <a:t>the heap.</a:t>
            </a:r>
          </a:p>
          <a:p>
            <a:pPr algn="l">
              <a:lnSpc>
                <a:spcPct val="120000"/>
              </a:lnSpc>
              <a:spcBef>
                <a:spcPts val="0"/>
              </a:spcBef>
              <a:spcAft>
                <a:spcPts val="0"/>
              </a:spcAft>
              <a:defRPr sz="2200" b="0">
                <a:solidFill>
                  <a:srgbClr val="17323D"/>
                </a:solidFill>
                <a:latin typeface="Arial"/>
              </a:defRPr>
            </a:pPr>
            <a:r>
              <a:t>Discard it when it</a:t>
            </a:r>
          </a:p>
          <a:p>
            <a:pPr algn="l">
              <a:lnSpc>
                <a:spcPct val="120000"/>
              </a:lnSpc>
              <a:spcBef>
                <a:spcPts val="0"/>
              </a:spcBef>
              <a:spcAft>
                <a:spcPts val="0"/>
              </a:spcAft>
              <a:defRPr sz="2200" b="0">
                <a:solidFill>
                  <a:srgbClr val="17323D"/>
                </a:solidFill>
                <a:latin typeface="Arial"/>
              </a:defRPr>
            </a:pPr>
            <a:r>
              <a:t>reaches the top.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TERMINATION / CHECKPOINT 04</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38-41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Stop at discovery—or at certification?</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Do not label every tentative distance “shortest” after an early stop.</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R1</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13</a:t>
            </a:r>
          </a:p>
        </p:txBody>
      </p:sp>
      <p:sp>
        <p:nvSpPr>
          <p:cNvPr id="19" name="Rounded Rectangle 18"/>
          <p:cNvSpPr/>
          <p:nvPr/>
        </p:nvSpPr>
        <p:spPr>
          <a:xfrm>
            <a:off x="59436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Discovery</a:t>
            </a:r>
          </a:p>
        </p:txBody>
      </p:sp>
      <p:sp>
        <p:nvSpPr>
          <p:cNvPr id="21" name="Rectangle 20"/>
          <p:cNvSpPr/>
          <p:nvPr/>
        </p:nvSpPr>
        <p:spPr>
          <a:xfrm>
            <a:off x="850392"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A route to T exists.</a:t>
            </a:r>
          </a:p>
          <a:p>
            <a:pPr algn="l">
              <a:lnSpc>
                <a:spcPct val="120000"/>
              </a:lnSpc>
              <a:spcBef>
                <a:spcPts val="0"/>
              </a:spcBef>
              <a:spcAft>
                <a:spcPts val="0"/>
              </a:spcAft>
              <a:defRPr sz="2100" b="0">
                <a:solidFill>
                  <a:srgbClr val="17323D"/>
                </a:solidFill>
                <a:latin typeface="Arial"/>
              </a:defRPr>
            </a:pPr>
            <a:r>
              <a:t>Its cost is only an</a:t>
            </a:r>
          </a:p>
          <a:p>
            <a:pPr algn="l">
              <a:lnSpc>
                <a:spcPct val="120000"/>
              </a:lnSpc>
              <a:spcBef>
                <a:spcPts val="0"/>
              </a:spcBef>
              <a:spcAft>
                <a:spcPts val="0"/>
              </a:spcAft>
              <a:defRPr sz="2100" b="0">
                <a:solidFill>
                  <a:srgbClr val="17323D"/>
                </a:solidFill>
                <a:latin typeface="Arial"/>
              </a:defRPr>
            </a:pPr>
            <a:r>
              <a:t>upper bound.</a:t>
            </a:r>
          </a:p>
        </p:txBody>
      </p:sp>
      <p:sp>
        <p:nvSpPr>
          <p:cNvPr id="23" name="Rounded Rectangle 22"/>
          <p:cNvSpPr/>
          <p:nvPr/>
        </p:nvSpPr>
        <p:spPr>
          <a:xfrm>
            <a:off x="434340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2"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Extraction</a:t>
            </a:r>
          </a:p>
        </p:txBody>
      </p:sp>
      <p:sp>
        <p:nvSpPr>
          <p:cNvPr id="25" name="Rectangle 24"/>
          <p:cNvSpPr/>
          <p:nvPr/>
        </p:nvSpPr>
        <p:spPr>
          <a:xfrm>
            <a:off x="4599432"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9432"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After the stale guard,</a:t>
            </a:r>
          </a:p>
          <a:p>
            <a:pPr algn="l">
              <a:lnSpc>
                <a:spcPct val="120000"/>
              </a:lnSpc>
              <a:spcBef>
                <a:spcPts val="0"/>
              </a:spcBef>
              <a:spcAft>
                <a:spcPts val="0"/>
              </a:spcAft>
              <a:defRPr sz="2100" b="0">
                <a:solidFill>
                  <a:srgbClr val="17323D"/>
                </a:solidFill>
                <a:latin typeface="Arial"/>
              </a:defRPr>
            </a:pPr>
            <a:r>
              <a:t>minimum-g T is</a:t>
            </a:r>
          </a:p>
          <a:p>
            <a:pPr algn="l">
              <a:lnSpc>
                <a:spcPct val="120000"/>
              </a:lnSpc>
              <a:spcBef>
                <a:spcPts val="0"/>
              </a:spcBef>
              <a:spcAft>
                <a:spcPts val="0"/>
              </a:spcAft>
              <a:defRPr sz="2100" b="0">
                <a:solidFill>
                  <a:srgbClr val="17323D"/>
                </a:solidFill>
                <a:latin typeface="Arial"/>
              </a:defRPr>
            </a:pPr>
            <a:r>
              <a:t>certified.</a:t>
            </a:r>
          </a:p>
        </p:txBody>
      </p:sp>
      <p:sp>
        <p:nvSpPr>
          <p:cNvPr id="27" name="Rounded Rectangle 26"/>
          <p:cNvSpPr/>
          <p:nvPr/>
        </p:nvSpPr>
        <p:spPr>
          <a:xfrm>
            <a:off x="809244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48471"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Continue</a:t>
            </a:r>
          </a:p>
        </p:txBody>
      </p:sp>
      <p:sp>
        <p:nvSpPr>
          <p:cNvPr id="29" name="Rectangle 28"/>
          <p:cNvSpPr/>
          <p:nvPr/>
        </p:nvSpPr>
        <p:spPr>
          <a:xfrm>
            <a:off x="8348471"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48471"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With no target stop,</a:t>
            </a:r>
          </a:p>
          <a:p>
            <a:pPr algn="l">
              <a:lnSpc>
                <a:spcPct val="120000"/>
              </a:lnSpc>
              <a:spcBef>
                <a:spcPts val="0"/>
              </a:spcBef>
              <a:spcAft>
                <a:spcPts val="0"/>
              </a:spcAft>
              <a:defRPr sz="2100" b="0">
                <a:solidFill>
                  <a:srgbClr val="17323D"/>
                </a:solidFill>
                <a:latin typeface="Arial"/>
              </a:defRPr>
            </a:pPr>
            <a:r>
              <a:t>finalize every</a:t>
            </a:r>
          </a:p>
          <a:p>
            <a:pPr algn="l">
              <a:lnSpc>
                <a:spcPct val="120000"/>
              </a:lnSpc>
              <a:spcBef>
                <a:spcPts val="0"/>
              </a:spcBef>
              <a:spcAft>
                <a:spcPts val="0"/>
              </a:spcAft>
              <a:defRPr sz="2100" b="0">
                <a:solidFill>
                  <a:srgbClr val="17323D"/>
                </a:solidFill>
                <a:latin typeface="Arial"/>
              </a:defRPr>
            </a:pPr>
            <a:r>
              <a:t>reachable distance.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EAGER QUEUE / CHECKPOINT 05</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41-46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Can each frontier node have one entry?</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Use the prepared indexed heap; inspect one decrease-key operation.</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R2 · R7</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14</a:t>
            </a:r>
          </a:p>
        </p:txBody>
      </p:sp>
      <p:sp>
        <p:nvSpPr>
          <p:cNvPr id="19" name="Rounded Rectangle 18"/>
          <p:cNvSpPr/>
          <p:nvPr/>
        </p:nvSpPr>
        <p:spPr>
          <a:xfrm>
            <a:off x="594360" y="1856231"/>
            <a:ext cx="7095744" cy="3785615"/>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2212848"/>
            <a:ext cx="6528816" cy="3090672"/>
          </a:xfrm>
          <a:prstGeom prst="rect">
            <a:avLst/>
          </a:prstGeom>
          <a:noFill/>
        </p:spPr>
        <p:txBody>
          <a:bodyPr wrap="none" lIns="0" rIns="0" tIns="0" bIns="0" anchor="t">
            <a:spAutoFit/>
          </a:bodyPr>
          <a:lstStyle/>
          <a:p>
            <a:pPr algn="l">
              <a:lnSpc>
                <a:spcPct val="120000"/>
              </a:lnSpc>
              <a:spcBef>
                <a:spcPts val="0"/>
              </a:spcBef>
              <a:spcAft>
                <a:spcPts val="0"/>
              </a:spcAft>
              <a:defRPr sz="1900" b="0">
                <a:solidFill>
                  <a:srgbClr val="E3F2E9"/>
                </a:solidFill>
                <a:latin typeface="Consolas"/>
              </a:defRPr>
            </a:pPr>
            <a:r>
              <a:t>if v in queue:</a:t>
            </a:r>
          </a:p>
          <a:p>
            <a:pPr algn="l">
              <a:lnSpc>
                <a:spcPct val="120000"/>
              </a:lnSpc>
              <a:spcBef>
                <a:spcPts val="0"/>
              </a:spcBef>
              <a:spcAft>
                <a:spcPts val="0"/>
              </a:spcAft>
              <a:defRPr sz="1900" b="0">
                <a:solidFill>
                  <a:srgbClr val="E3F2E9"/>
                </a:solidFill>
                <a:latin typeface="Consolas"/>
              </a:defRPr>
            </a:pPr>
            <a:r>
              <a:t>    queue.decrease_key(v, candidate)</a:t>
            </a:r>
          </a:p>
          <a:p>
            <a:pPr algn="l">
              <a:lnSpc>
                <a:spcPct val="120000"/>
              </a:lnSpc>
              <a:spcBef>
                <a:spcPts val="0"/>
              </a:spcBef>
              <a:spcAft>
                <a:spcPts val="0"/>
              </a:spcAft>
              <a:defRPr sz="1900" b="0">
                <a:solidFill>
                  <a:srgbClr val="E3F2E9"/>
                </a:solidFill>
                <a:latin typeface="Consolas"/>
              </a:defRPr>
            </a:pPr>
            <a:r>
              <a:t>else:</a:t>
            </a:r>
          </a:p>
          <a:p>
            <a:pPr algn="l">
              <a:lnSpc>
                <a:spcPct val="120000"/>
              </a:lnSpc>
              <a:spcBef>
                <a:spcPts val="0"/>
              </a:spcBef>
              <a:spcAft>
                <a:spcPts val="0"/>
              </a:spcAft>
              <a:defRPr sz="1900" b="0">
                <a:solidFill>
                  <a:srgbClr val="E3F2E9"/>
                </a:solidFill>
                <a:latin typeface="Consolas"/>
              </a:defRPr>
            </a:pPr>
            <a:r>
              <a:t>    queue.insert(v, candidate)</a:t>
            </a:r>
          </a:p>
          <a:p>
            <a:pPr algn="l">
              <a:lnSpc>
                <a:spcPct val="120000"/>
              </a:lnSpc>
              <a:spcBef>
                <a:spcPts val="0"/>
              </a:spcBef>
              <a:spcAft>
                <a:spcPts val="0"/>
              </a:spcAft>
              <a:defRPr sz="1900" b="0">
                <a:solidFill>
                  <a:srgbClr val="E3F2E9"/>
                </a:solidFill>
                <a:latin typeface="Consolas"/>
              </a:defRPr>
            </a:pPr>
          </a:p>
          <a:p>
            <a:pPr algn="l">
              <a:lnSpc>
                <a:spcPct val="120000"/>
              </a:lnSpc>
              <a:spcBef>
                <a:spcPts val="0"/>
              </a:spcBef>
              <a:spcAft>
                <a:spcPts val="0"/>
              </a:spcAft>
              <a:defRPr sz="1900" b="0">
                <a:solidFill>
                  <a:srgbClr val="E3F2E9"/>
                </a:solidFill>
                <a:latin typeface="Consolas"/>
              </a:defRPr>
            </a:pPr>
            <a:r>
              <a:t># heap array + node→position map</a:t>
            </a:r>
          </a:p>
        </p:txBody>
      </p:sp>
      <p:sp>
        <p:nvSpPr>
          <p:cNvPr id="21" name="TextBox 20"/>
          <p:cNvSpPr txBox="1"/>
          <p:nvPr/>
        </p:nvSpPr>
        <p:spPr>
          <a:xfrm>
            <a:off x="8028431" y="2176272"/>
            <a:ext cx="3474720" cy="676656"/>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What changes?</a:t>
            </a:r>
          </a:p>
        </p:txBody>
      </p:sp>
      <p:sp>
        <p:nvSpPr>
          <p:cNvPr id="22" name="Rectangle 21"/>
          <p:cNvSpPr/>
          <p:nvPr/>
        </p:nvSpPr>
        <p:spPr>
          <a:xfrm>
            <a:off x="8028431" y="2971800"/>
            <a:ext cx="502920" cy="41148"/>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28431" y="3264408"/>
            <a:ext cx="3474720" cy="2240280"/>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The search rule does</a:t>
            </a:r>
          </a:p>
          <a:p>
            <a:pPr algn="l">
              <a:lnSpc>
                <a:spcPct val="120000"/>
              </a:lnSpc>
              <a:spcBef>
                <a:spcPts val="0"/>
              </a:spcBef>
              <a:spcAft>
                <a:spcPts val="0"/>
              </a:spcAft>
              <a:defRPr sz="2200" b="0">
                <a:solidFill>
                  <a:srgbClr val="17323D"/>
                </a:solidFill>
                <a:latin typeface="Arial"/>
              </a:defRPr>
            </a:pPr>
            <a:r>
              <a:t>not.</a:t>
            </a:r>
          </a:p>
          <a:p>
            <a:pPr algn="l">
              <a:lnSpc>
                <a:spcPct val="120000"/>
              </a:lnSpc>
              <a:spcBef>
                <a:spcPts val="0"/>
              </a:spcBef>
              <a:spcAft>
                <a:spcPts val="0"/>
              </a:spcAft>
              <a:defRPr sz="2200" b="0">
                <a:solidFill>
                  <a:srgbClr val="17323D"/>
                </a:solidFill>
                <a:latin typeface="Arial"/>
              </a:defRPr>
            </a:pPr>
            <a:r>
              <a:t>The queue bookkeeping</a:t>
            </a:r>
          </a:p>
          <a:p>
            <a:pPr algn="l">
              <a:lnSpc>
                <a:spcPct val="120000"/>
              </a:lnSpc>
              <a:spcBef>
                <a:spcPts val="0"/>
              </a:spcBef>
              <a:spcAft>
                <a:spcPts val="0"/>
              </a:spcAft>
              <a:defRPr sz="2200" b="0">
                <a:solidFill>
                  <a:srgbClr val="17323D"/>
                </a:solidFill>
                <a:latin typeface="Arial"/>
              </a:defRPr>
            </a:pPr>
            <a:r>
              <a:t>does.</a:t>
            </a:r>
          </a:p>
          <a:p>
            <a:pPr algn="l">
              <a:lnSpc>
                <a:spcPct val="120000"/>
              </a:lnSpc>
              <a:spcBef>
                <a:spcPts val="0"/>
              </a:spcBef>
              <a:spcAft>
                <a:spcPts val="0"/>
              </a:spcAft>
              <a:defRPr sz="2200" b="0">
                <a:solidFill>
                  <a:srgbClr val="17323D"/>
                </a:solidFill>
                <a:latin typeface="Arial"/>
              </a:defRPr>
            </a:pPr>
            <a:r>
              <a:t>Every swap repairs the</a:t>
            </a:r>
          </a:p>
          <a:p>
            <a:pPr algn="l">
              <a:lnSpc>
                <a:spcPct val="120000"/>
              </a:lnSpc>
              <a:spcBef>
                <a:spcPts val="0"/>
              </a:spcBef>
              <a:spcAft>
                <a:spcPts val="0"/>
              </a:spcAft>
              <a:defRPr sz="2200" b="0">
                <a:solidFill>
                  <a:srgbClr val="17323D"/>
                </a:solidFill>
                <a:latin typeface="Arial"/>
              </a:defRPr>
            </a:pPr>
            <a:r>
              <a:t>map.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COMPLEXITY / EXPLICIT GRAPH</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46-48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Smaller queues do not prove faster runs.</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n = |V|, m = |E|. For simple graphs, log m = O(log n).</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R2 · R7</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15</a:t>
            </a:r>
          </a:p>
        </p:txBody>
      </p:sp>
      <p:sp>
        <p:nvSpPr>
          <p:cNvPr id="19" name="Rectangle 18"/>
          <p:cNvSpPr/>
          <p:nvPr/>
        </p:nvSpPr>
        <p:spPr>
          <a:xfrm>
            <a:off x="594360" y="1947672"/>
            <a:ext cx="3846880" cy="777240"/>
          </a:xfrm>
          <a:prstGeom prst="rect">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066543"/>
            <a:ext cx="3609136" cy="612647"/>
          </a:xfrm>
          <a:prstGeom prst="rect">
            <a:avLst/>
          </a:prstGeom>
          <a:noFill/>
        </p:spPr>
        <p:txBody>
          <a:bodyPr wrap="none" lIns="0" rIns="0" tIns="0" bIns="0" anchor="t">
            <a:spAutoFit/>
          </a:bodyPr>
          <a:lstStyle/>
          <a:p>
            <a:pPr algn="l">
              <a:lnSpc>
                <a:spcPct val="120000"/>
              </a:lnSpc>
              <a:spcBef>
                <a:spcPts val="0"/>
              </a:spcBef>
              <a:spcAft>
                <a:spcPts val="0"/>
              </a:spcAft>
              <a:defRPr sz="2100" b="1">
                <a:solidFill>
                  <a:srgbClr val="FFFEFB"/>
                </a:solidFill>
                <a:latin typeface="Arial"/>
              </a:defRPr>
            </a:pPr>
            <a:r>
              <a:t>Variant</a:t>
            </a:r>
          </a:p>
        </p:txBody>
      </p:sp>
      <p:sp>
        <p:nvSpPr>
          <p:cNvPr id="21" name="Rectangle 20"/>
          <p:cNvSpPr/>
          <p:nvPr/>
        </p:nvSpPr>
        <p:spPr>
          <a:xfrm>
            <a:off x="4441240" y="1947672"/>
            <a:ext cx="4396435" cy="777240"/>
          </a:xfrm>
          <a:prstGeom prst="rect">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60112" y="2066543"/>
            <a:ext cx="4158691" cy="612647"/>
          </a:xfrm>
          <a:prstGeom prst="rect">
            <a:avLst/>
          </a:prstGeom>
          <a:noFill/>
        </p:spPr>
        <p:txBody>
          <a:bodyPr wrap="none" lIns="0" rIns="0" tIns="0" bIns="0" anchor="t">
            <a:spAutoFit/>
          </a:bodyPr>
          <a:lstStyle/>
          <a:p>
            <a:pPr algn="l">
              <a:lnSpc>
                <a:spcPct val="120000"/>
              </a:lnSpc>
              <a:spcBef>
                <a:spcPts val="0"/>
              </a:spcBef>
              <a:spcAft>
                <a:spcPts val="0"/>
              </a:spcAft>
              <a:defRPr sz="2100" b="1">
                <a:solidFill>
                  <a:srgbClr val="FFFEFB"/>
                </a:solidFill>
                <a:latin typeface="Arial"/>
              </a:defRPr>
            </a:pPr>
            <a:r>
              <a:t>Time</a:t>
            </a:r>
          </a:p>
        </p:txBody>
      </p:sp>
      <p:sp>
        <p:nvSpPr>
          <p:cNvPr id="23" name="Rectangle 22"/>
          <p:cNvSpPr/>
          <p:nvPr/>
        </p:nvSpPr>
        <p:spPr>
          <a:xfrm>
            <a:off x="8837676" y="1947672"/>
            <a:ext cx="2747772" cy="777240"/>
          </a:xfrm>
          <a:prstGeom prst="rect">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6548" y="2066543"/>
            <a:ext cx="2510028" cy="612647"/>
          </a:xfrm>
          <a:prstGeom prst="rect">
            <a:avLst/>
          </a:prstGeom>
          <a:noFill/>
        </p:spPr>
        <p:txBody>
          <a:bodyPr wrap="none" lIns="0" rIns="0" tIns="0" bIns="0" anchor="t">
            <a:spAutoFit/>
          </a:bodyPr>
          <a:lstStyle/>
          <a:p>
            <a:pPr algn="l">
              <a:lnSpc>
                <a:spcPct val="120000"/>
              </a:lnSpc>
              <a:spcBef>
                <a:spcPts val="0"/>
              </a:spcBef>
              <a:spcAft>
                <a:spcPts val="0"/>
              </a:spcAft>
              <a:defRPr sz="2100" b="1">
                <a:solidFill>
                  <a:srgbClr val="FFFEFB"/>
                </a:solidFill>
                <a:latin typeface="Arial"/>
              </a:defRPr>
            </a:pPr>
            <a:r>
              <a:t>Extra memory</a:t>
            </a:r>
          </a:p>
        </p:txBody>
      </p:sp>
      <p:sp>
        <p:nvSpPr>
          <p:cNvPr id="25" name="Rectangle 24"/>
          <p:cNvSpPr/>
          <p:nvPr/>
        </p:nvSpPr>
        <p:spPr>
          <a:xfrm>
            <a:off x="594360" y="2724912"/>
            <a:ext cx="3846880" cy="77724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2843784"/>
            <a:ext cx="3609136" cy="612647"/>
          </a:xfrm>
          <a:prstGeom prst="rect">
            <a:avLst/>
          </a:prstGeom>
          <a:noFill/>
        </p:spPr>
        <p:txBody>
          <a:bodyPr wrap="none" lIns="0" rIns="0" tIns="0" bIns="0" anchor="t">
            <a:spAutoFit/>
          </a:bodyPr>
          <a:lstStyle/>
          <a:p>
            <a:pPr algn="l">
              <a:lnSpc>
                <a:spcPct val="120000"/>
              </a:lnSpc>
              <a:spcBef>
                <a:spcPts val="0"/>
              </a:spcBef>
              <a:spcAft>
                <a:spcPts val="0"/>
              </a:spcAft>
              <a:defRPr sz="2100" b="1">
                <a:solidFill>
                  <a:srgbClr val="17323D"/>
                </a:solidFill>
                <a:latin typeface="Arial"/>
              </a:defRPr>
            </a:pPr>
            <a:r>
              <a:t>Lazy / binary heap</a:t>
            </a:r>
          </a:p>
        </p:txBody>
      </p:sp>
      <p:sp>
        <p:nvSpPr>
          <p:cNvPr id="27" name="Rectangle 26"/>
          <p:cNvSpPr/>
          <p:nvPr/>
        </p:nvSpPr>
        <p:spPr>
          <a:xfrm>
            <a:off x="4441240" y="2724912"/>
            <a:ext cx="4396435" cy="77724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0112" y="2843784"/>
            <a:ext cx="4158691" cy="612647"/>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O(n + m log(m+1))</a:t>
            </a:r>
          </a:p>
        </p:txBody>
      </p:sp>
      <p:sp>
        <p:nvSpPr>
          <p:cNvPr id="29" name="Rectangle 28"/>
          <p:cNvSpPr/>
          <p:nvPr/>
        </p:nvSpPr>
        <p:spPr>
          <a:xfrm>
            <a:off x="8837676" y="2724912"/>
            <a:ext cx="2747772" cy="77724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56548" y="2843784"/>
            <a:ext cx="2510028" cy="612647"/>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O(n+m)</a:t>
            </a:r>
          </a:p>
        </p:txBody>
      </p:sp>
      <p:sp>
        <p:nvSpPr>
          <p:cNvPr id="31" name="Rectangle 30"/>
          <p:cNvSpPr/>
          <p:nvPr/>
        </p:nvSpPr>
        <p:spPr>
          <a:xfrm>
            <a:off x="594360" y="3502152"/>
            <a:ext cx="3846880" cy="777240"/>
          </a:xfrm>
          <a:prstGeom prst="rect">
            <a:avLst/>
          </a:prstGeom>
          <a:solidFill>
            <a:srgbClr val="EA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3621024"/>
            <a:ext cx="3609136" cy="612647"/>
          </a:xfrm>
          <a:prstGeom prst="rect">
            <a:avLst/>
          </a:prstGeom>
          <a:noFill/>
        </p:spPr>
        <p:txBody>
          <a:bodyPr wrap="none" lIns="0" rIns="0" tIns="0" bIns="0" anchor="t">
            <a:spAutoFit/>
          </a:bodyPr>
          <a:lstStyle/>
          <a:p>
            <a:pPr algn="l">
              <a:lnSpc>
                <a:spcPct val="120000"/>
              </a:lnSpc>
              <a:spcBef>
                <a:spcPts val="0"/>
              </a:spcBef>
              <a:spcAft>
                <a:spcPts val="0"/>
              </a:spcAft>
              <a:defRPr sz="2100" b="1">
                <a:solidFill>
                  <a:srgbClr val="17323D"/>
                </a:solidFill>
                <a:latin typeface="Arial"/>
              </a:defRPr>
            </a:pPr>
            <a:r>
              <a:t>Eager / indexed heap</a:t>
            </a:r>
          </a:p>
        </p:txBody>
      </p:sp>
      <p:sp>
        <p:nvSpPr>
          <p:cNvPr id="33" name="Rectangle 32"/>
          <p:cNvSpPr/>
          <p:nvPr/>
        </p:nvSpPr>
        <p:spPr>
          <a:xfrm>
            <a:off x="4441240" y="3502152"/>
            <a:ext cx="4396435" cy="777240"/>
          </a:xfrm>
          <a:prstGeom prst="rect">
            <a:avLst/>
          </a:prstGeom>
          <a:solidFill>
            <a:srgbClr val="EA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60112" y="3621024"/>
            <a:ext cx="4158691" cy="612647"/>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O((n+m) log(n+1))</a:t>
            </a:r>
          </a:p>
        </p:txBody>
      </p:sp>
      <p:sp>
        <p:nvSpPr>
          <p:cNvPr id="35" name="Rectangle 34"/>
          <p:cNvSpPr/>
          <p:nvPr/>
        </p:nvSpPr>
        <p:spPr>
          <a:xfrm>
            <a:off x="8837676" y="3502152"/>
            <a:ext cx="2747772" cy="777240"/>
          </a:xfrm>
          <a:prstGeom prst="rect">
            <a:avLst/>
          </a:prstGeom>
          <a:solidFill>
            <a:srgbClr val="EA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56548" y="3621024"/>
            <a:ext cx="2510028" cy="612647"/>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O(n)</a:t>
            </a:r>
          </a:p>
        </p:txBody>
      </p:sp>
      <p:sp>
        <p:nvSpPr>
          <p:cNvPr id="37" name="TextBox 36"/>
          <p:cNvSpPr txBox="1"/>
          <p:nvPr/>
        </p:nvSpPr>
        <p:spPr>
          <a:xfrm>
            <a:off x="841248" y="4773168"/>
            <a:ext cx="10561320" cy="713232"/>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Same search rule. Different update costs, queue size and implementation</a:t>
            </a:r>
          </a:p>
          <a:p>
            <a:pPr algn="l">
              <a:lnSpc>
                <a:spcPct val="120000"/>
              </a:lnSpc>
              <a:spcBef>
                <a:spcPts val="0"/>
              </a:spcBef>
              <a:spcAft>
                <a:spcPts val="0"/>
              </a:spcAft>
              <a:defRPr sz="2200" b="0">
                <a:solidFill>
                  <a:srgbClr val="17323D"/>
                </a:solidFill>
                <a:latin typeface="Arial"/>
              </a:defRPr>
            </a:pPr>
            <a:r>
              <a:t>constants.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04 / USE THE TARGET</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48-51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Which term in the priority mentions T?</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Dijkstra respects edge direction. It does not use target information to prioritize.</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R4</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16</a:t>
            </a:r>
          </a:p>
        </p:txBody>
      </p:sp>
      <p:sp>
        <p:nvSpPr>
          <p:cNvPr id="19" name="Rounded Rectangle 18"/>
          <p:cNvSpPr/>
          <p:nvPr/>
        </p:nvSpPr>
        <p:spPr>
          <a:xfrm>
            <a:off x="594360" y="1801368"/>
            <a:ext cx="6967728" cy="3858768"/>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ain_graph.png"/>
          <p:cNvPicPr>
            <a:picLocks noChangeAspect="1"/>
          </p:cNvPicPr>
          <p:nvPr/>
        </p:nvPicPr>
        <p:blipFill>
          <a:blip r:embed="rId2"/>
          <a:stretch>
            <a:fillRect/>
          </a:stretch>
        </p:blipFill>
        <p:spPr>
          <a:xfrm>
            <a:off x="833862" y="1865376"/>
            <a:ext cx="6488723" cy="3749039"/>
          </a:xfrm>
          <a:prstGeom prst="rect">
            <a:avLst/>
          </a:prstGeom>
        </p:spPr>
      </p:pic>
      <p:sp>
        <p:nvSpPr>
          <p:cNvPr id="21" name="TextBox 20"/>
          <p:cNvSpPr txBox="1"/>
          <p:nvPr/>
        </p:nvSpPr>
        <p:spPr>
          <a:xfrm>
            <a:off x="7909560" y="2121408"/>
            <a:ext cx="3566160" cy="77724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Priority = g(v)</a:t>
            </a:r>
          </a:p>
        </p:txBody>
      </p:sp>
      <p:sp>
        <p:nvSpPr>
          <p:cNvPr id="22" name="Rectangle 21"/>
          <p:cNvSpPr/>
          <p:nvPr/>
        </p:nvSpPr>
        <p:spPr>
          <a:xfrm>
            <a:off x="7909560" y="2898648"/>
            <a:ext cx="502920" cy="41148"/>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9560" y="3182112"/>
            <a:ext cx="3566160" cy="2331720"/>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The detour is cheap so</a:t>
            </a:r>
          </a:p>
          <a:p>
            <a:pPr algn="l">
              <a:lnSpc>
                <a:spcPct val="120000"/>
              </a:lnSpc>
              <a:spcBef>
                <a:spcPts val="0"/>
              </a:spcBef>
              <a:spcAft>
                <a:spcPts val="0"/>
              </a:spcAft>
              <a:defRPr sz="2200" b="0">
                <a:solidFill>
                  <a:srgbClr val="17323D"/>
                </a:solidFill>
                <a:latin typeface="Arial"/>
              </a:defRPr>
            </a:pPr>
            <a:r>
              <a:t>far.</a:t>
            </a:r>
          </a:p>
          <a:p>
            <a:pPr algn="l">
              <a:lnSpc>
                <a:spcPct val="120000"/>
              </a:lnSpc>
              <a:spcBef>
                <a:spcPts val="0"/>
              </a:spcBef>
              <a:spcAft>
                <a:spcPts val="0"/>
              </a:spcAft>
              <a:defRPr sz="2200" b="0">
                <a:solidFill>
                  <a:srgbClr val="17323D"/>
                </a:solidFill>
                <a:latin typeface="Arial"/>
              </a:defRPr>
            </a:pPr>
            <a:r>
              <a:t>Dijkstra processes it</a:t>
            </a:r>
          </a:p>
          <a:p>
            <a:pPr algn="l">
              <a:lnSpc>
                <a:spcPct val="120000"/>
              </a:lnSpc>
              <a:spcBef>
                <a:spcPts val="0"/>
              </a:spcBef>
              <a:spcAft>
                <a:spcPts val="0"/>
              </a:spcAft>
              <a:defRPr sz="2200" b="0">
                <a:solidFill>
                  <a:srgbClr val="17323D"/>
                </a:solidFill>
                <a:latin typeface="Arial"/>
              </a:defRPr>
            </a:pPr>
            <a:r>
              <a:t>before certifying T=8.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A PLAUSIBLE REPAIR THAT FAILS</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51-54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What if we use only the estimated distance?</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Estimated remaining cost cannot replace accumulated route cost.</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R3</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17</a:t>
            </a:r>
          </a:p>
        </p:txBody>
      </p:sp>
      <p:sp>
        <p:nvSpPr>
          <p:cNvPr id="19" name="Rounded Rectangle 18"/>
          <p:cNvSpPr/>
          <p:nvPr/>
        </p:nvSpPr>
        <p:spPr>
          <a:xfrm>
            <a:off x="594360" y="1801368"/>
            <a:ext cx="6967728" cy="3858768"/>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ain_graph_heuristic.png"/>
          <p:cNvPicPr>
            <a:picLocks noChangeAspect="1"/>
          </p:cNvPicPr>
          <p:nvPr/>
        </p:nvPicPr>
        <p:blipFill>
          <a:blip r:embed="rId2"/>
          <a:stretch>
            <a:fillRect/>
          </a:stretch>
        </p:blipFill>
        <p:spPr>
          <a:xfrm>
            <a:off x="833862" y="1865376"/>
            <a:ext cx="6488723" cy="3749039"/>
          </a:xfrm>
          <a:prstGeom prst="rect">
            <a:avLst/>
          </a:prstGeom>
        </p:spPr>
      </p:pic>
      <p:sp>
        <p:nvSpPr>
          <p:cNvPr id="21" name="TextBox 20"/>
          <p:cNvSpPr txBox="1"/>
          <p:nvPr/>
        </p:nvSpPr>
        <p:spPr>
          <a:xfrm>
            <a:off x="7909560" y="2121408"/>
            <a:ext cx="3566160" cy="77724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Priority = h(v)</a:t>
            </a:r>
          </a:p>
        </p:txBody>
      </p:sp>
      <p:sp>
        <p:nvSpPr>
          <p:cNvPr id="22" name="Rectangle 21"/>
          <p:cNvSpPr/>
          <p:nvPr/>
        </p:nvSpPr>
        <p:spPr>
          <a:xfrm>
            <a:off x="7909560" y="2898648"/>
            <a:ext cx="502920" cy="41148"/>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9560" y="3182112"/>
            <a:ext cx="3566160" cy="2331720"/>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The goal has h(T)=0.</a:t>
            </a:r>
          </a:p>
          <a:p>
            <a:pPr algn="l">
              <a:lnSpc>
                <a:spcPct val="120000"/>
              </a:lnSpc>
              <a:spcBef>
                <a:spcPts val="0"/>
              </a:spcBef>
              <a:spcAft>
                <a:spcPts val="0"/>
              </a:spcAft>
              <a:defRPr sz="2200" b="0">
                <a:solidFill>
                  <a:srgbClr val="17323D"/>
                </a:solidFill>
                <a:latin typeface="Arial"/>
              </a:defRPr>
            </a:pPr>
            <a:r>
              <a:t>Its first discovered route</a:t>
            </a:r>
          </a:p>
          <a:p>
            <a:pPr algn="l">
              <a:lnSpc>
                <a:spcPct val="120000"/>
              </a:lnSpc>
              <a:spcBef>
                <a:spcPts val="0"/>
              </a:spcBef>
              <a:spcAft>
                <a:spcPts val="0"/>
              </a:spcAft>
              <a:defRPr sz="2200" b="0">
                <a:solidFill>
                  <a:srgbClr val="17323D"/>
                </a:solidFill>
                <a:latin typeface="Arial"/>
              </a:defRPr>
            </a:pPr>
            <a:r>
              <a:t>costs 15.</a:t>
            </a:r>
          </a:p>
          <a:p>
            <a:pPr algn="l">
              <a:lnSpc>
                <a:spcPct val="120000"/>
              </a:lnSpc>
              <a:spcBef>
                <a:spcPts val="0"/>
              </a:spcBef>
              <a:spcAft>
                <a:spcPts val="0"/>
              </a:spcAft>
              <a:defRPr sz="2200" b="0">
                <a:solidFill>
                  <a:srgbClr val="17323D"/>
                </a:solidFill>
                <a:latin typeface="Arial"/>
              </a:defRPr>
            </a:pPr>
          </a:p>
          <a:p>
            <a:pPr algn="l">
              <a:lnSpc>
                <a:spcPct val="120000"/>
              </a:lnSpc>
              <a:spcBef>
                <a:spcPts val="0"/>
              </a:spcBef>
              <a:spcAft>
                <a:spcPts val="0"/>
              </a:spcAft>
              <a:defRPr sz="2200" b="0">
                <a:solidFill>
                  <a:srgbClr val="17323D"/>
                </a:solidFill>
                <a:latin typeface="Arial"/>
              </a:defRPr>
            </a:pPr>
            <a:r>
              <a:t>What did we forget?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A* / f = g + h</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54-58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Keep the past. Estimate the future.</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D remains at f = 2 + 7 = 9.    Setting h = 0 recovers Dijkstra.</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R3</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18</a:t>
            </a:r>
          </a:p>
        </p:txBody>
      </p:sp>
      <p:sp>
        <p:nvSpPr>
          <p:cNvPr id="19" name="Rounded Rectangle 18"/>
          <p:cNvSpPr/>
          <p:nvPr/>
        </p:nvSpPr>
        <p:spPr>
          <a:xfrm>
            <a:off x="594360" y="1801368"/>
            <a:ext cx="6967728" cy="3858768"/>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ain_graph_heuristic.png"/>
          <p:cNvPicPr>
            <a:picLocks noChangeAspect="1"/>
          </p:cNvPicPr>
          <p:nvPr/>
        </p:nvPicPr>
        <p:blipFill>
          <a:blip r:embed="rId2"/>
          <a:stretch>
            <a:fillRect/>
          </a:stretch>
        </p:blipFill>
        <p:spPr>
          <a:xfrm>
            <a:off x="833862" y="1865376"/>
            <a:ext cx="6488723" cy="3749039"/>
          </a:xfrm>
          <a:prstGeom prst="rect">
            <a:avLst/>
          </a:prstGeom>
        </p:spPr>
      </p:pic>
      <p:sp>
        <p:nvSpPr>
          <p:cNvPr id="21" name="TextBox 20"/>
          <p:cNvSpPr txBox="1"/>
          <p:nvPr/>
        </p:nvSpPr>
        <p:spPr>
          <a:xfrm>
            <a:off x="7909560" y="2121408"/>
            <a:ext cx="3566160" cy="77724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Selected (g, f)</a:t>
            </a:r>
          </a:p>
        </p:txBody>
      </p:sp>
      <p:sp>
        <p:nvSpPr>
          <p:cNvPr id="22" name="Rectangle 21"/>
          <p:cNvSpPr/>
          <p:nvPr/>
        </p:nvSpPr>
        <p:spPr>
          <a:xfrm>
            <a:off x="7909560" y="2898648"/>
            <a:ext cx="502920" cy="41148"/>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9560" y="3182112"/>
            <a:ext cx="3566160" cy="2331720"/>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S: (0, 6)</a:t>
            </a:r>
          </a:p>
          <a:p>
            <a:pPr algn="l">
              <a:lnSpc>
                <a:spcPct val="120000"/>
              </a:lnSpc>
              <a:spcBef>
                <a:spcPts val="0"/>
              </a:spcBef>
              <a:spcAft>
                <a:spcPts val="0"/>
              </a:spcAft>
              <a:defRPr sz="2200" b="0">
                <a:solidFill>
                  <a:srgbClr val="17323D"/>
                </a:solidFill>
                <a:latin typeface="Arial"/>
              </a:defRPr>
            </a:pPr>
            <a:r>
              <a:t>A: (2, 7)</a:t>
            </a:r>
          </a:p>
          <a:p>
            <a:pPr algn="l">
              <a:lnSpc>
                <a:spcPct val="120000"/>
              </a:lnSpc>
              <a:spcBef>
                <a:spcPts val="0"/>
              </a:spcBef>
              <a:spcAft>
                <a:spcPts val="0"/>
              </a:spcAft>
              <a:defRPr sz="2200" b="0">
                <a:solidFill>
                  <a:srgbClr val="17323D"/>
                </a:solidFill>
                <a:latin typeface="Arial"/>
              </a:defRPr>
            </a:pPr>
            <a:r>
              <a:t>B: (3, 7)</a:t>
            </a:r>
          </a:p>
          <a:p>
            <a:pPr algn="l">
              <a:lnSpc>
                <a:spcPct val="120000"/>
              </a:lnSpc>
              <a:spcBef>
                <a:spcPts val="0"/>
              </a:spcBef>
              <a:spcAft>
                <a:spcPts val="0"/>
              </a:spcAft>
              <a:defRPr sz="2200" b="0">
                <a:solidFill>
                  <a:srgbClr val="17323D"/>
                </a:solidFill>
                <a:latin typeface="Arial"/>
              </a:defRPr>
            </a:pPr>
            <a:r>
              <a:t>C: (4, 7)</a:t>
            </a:r>
          </a:p>
          <a:p>
            <a:pPr algn="l">
              <a:lnSpc>
                <a:spcPct val="120000"/>
              </a:lnSpc>
              <a:spcBef>
                <a:spcPts val="0"/>
              </a:spcBef>
              <a:spcAft>
                <a:spcPts val="0"/>
              </a:spcAft>
              <a:defRPr sz="2200" b="0">
                <a:solidFill>
                  <a:srgbClr val="17323D"/>
                </a:solidFill>
                <a:latin typeface="Arial"/>
              </a:defRPr>
            </a:pPr>
            <a:r>
              <a:t>T: (8, 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REFUTE OVERCONFIDENCE</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58-61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What promise must the estimate make?</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The proof needs an appropriate optimal-prefix representative on the frontier.</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R3</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19</a:t>
            </a:r>
          </a:p>
        </p:txBody>
      </p:sp>
      <p:sp>
        <p:nvSpPr>
          <p:cNvPr id="19" name="Rounded Rectangle 18"/>
          <p:cNvSpPr/>
          <p:nvPr/>
        </p:nvSpPr>
        <p:spPr>
          <a:xfrm>
            <a:off x="594360" y="1856231"/>
            <a:ext cx="10991088" cy="914400"/>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103120"/>
            <a:ext cx="10424160" cy="530352"/>
          </a:xfrm>
          <a:prstGeom prst="rect">
            <a:avLst/>
          </a:prstGeom>
          <a:noFill/>
        </p:spPr>
        <p:txBody>
          <a:bodyPr wrap="none" lIns="0" rIns="0" tIns="0" bIns="0" anchor="t">
            <a:spAutoFit/>
          </a:bodyPr>
          <a:lstStyle/>
          <a:p>
            <a:pPr algn="l">
              <a:lnSpc>
                <a:spcPct val="120000"/>
              </a:lnSpc>
              <a:spcBef>
                <a:spcPts val="0"/>
              </a:spcBef>
              <a:spcAft>
                <a:spcPts val="0"/>
              </a:spcAft>
              <a:defRPr sz="2900" b="1">
                <a:solidFill>
                  <a:srgbClr val="FFFEFB"/>
                </a:solidFill>
                <a:latin typeface="Arial"/>
              </a:defRPr>
            </a:pPr>
            <a:r>
              <a:t>0 ≤ h(v) ≤ h*(v)     and     h(T) = 0</a:t>
            </a:r>
          </a:p>
        </p:txBody>
      </p:sp>
      <p:sp>
        <p:nvSpPr>
          <p:cNvPr id="21" name="TextBox 20"/>
          <p:cNvSpPr txBox="1"/>
          <p:nvPr/>
        </p:nvSpPr>
        <p:spPr>
          <a:xfrm>
            <a:off x="822960" y="3227832"/>
            <a:ext cx="4800600" cy="45720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087E79"/>
                </a:solidFill>
                <a:latin typeface="Arial"/>
              </a:defRPr>
            </a:pPr>
            <a:r>
              <a:t>Break it first</a:t>
            </a:r>
          </a:p>
        </p:txBody>
      </p:sp>
      <p:sp>
        <p:nvSpPr>
          <p:cNvPr id="22" name="TextBox 21"/>
          <p:cNvSpPr txBox="1"/>
          <p:nvPr/>
        </p:nvSpPr>
        <p:spPr>
          <a:xfrm>
            <a:off x="822960" y="3931920"/>
            <a:ext cx="4800600" cy="1645920"/>
          </a:xfrm>
          <a:prstGeom prst="rect">
            <a:avLst/>
          </a:prstGeom>
          <a:noFill/>
        </p:spPr>
        <p:txBody>
          <a:bodyPr wrap="none" lIns="0" rIns="0" tIns="0" bIns="0" anchor="t">
            <a:spAutoFit/>
          </a:bodyPr>
          <a:lstStyle/>
          <a:p>
            <a:pPr algn="l">
              <a:lnSpc>
                <a:spcPct val="120000"/>
              </a:lnSpc>
              <a:spcBef>
                <a:spcPts val="0"/>
              </a:spcBef>
              <a:spcAft>
                <a:spcPts val="0"/>
              </a:spcAft>
              <a:defRPr sz="2300" b="0">
                <a:solidFill>
                  <a:srgbClr val="17323D"/>
                </a:solidFill>
                <a:latin typeface="Arial"/>
              </a:defRPr>
            </a:pPr>
            <a:r>
              <a:t>Change h(A) to 20.</a:t>
            </a:r>
          </a:p>
          <a:p>
            <a:pPr algn="l">
              <a:lnSpc>
                <a:spcPct val="120000"/>
              </a:lnSpc>
              <a:spcBef>
                <a:spcPts val="0"/>
              </a:spcBef>
              <a:spcAft>
                <a:spcPts val="0"/>
              </a:spcAft>
              <a:defRPr sz="2300" b="0">
                <a:solidFill>
                  <a:srgbClr val="17323D"/>
                </a:solidFill>
                <a:latin typeface="Arial"/>
              </a:defRPr>
            </a:pPr>
            <a:r>
              <a:t>Can an inflated estimate</a:t>
            </a:r>
          </a:p>
          <a:p>
            <a:pPr algn="l">
              <a:lnSpc>
                <a:spcPct val="120000"/>
              </a:lnSpc>
              <a:spcBef>
                <a:spcPts val="0"/>
              </a:spcBef>
              <a:spcAft>
                <a:spcPts val="0"/>
              </a:spcAft>
              <a:defRPr sz="2300" b="0">
                <a:solidFill>
                  <a:srgbClr val="17323D"/>
                </a:solidFill>
                <a:latin typeface="Arial"/>
              </a:defRPr>
            </a:pPr>
            <a:r>
              <a:t>hide the optimal route?</a:t>
            </a:r>
          </a:p>
        </p:txBody>
      </p:sp>
      <p:sp>
        <p:nvSpPr>
          <p:cNvPr id="23" name="TextBox 22"/>
          <p:cNvSpPr txBox="1"/>
          <p:nvPr/>
        </p:nvSpPr>
        <p:spPr>
          <a:xfrm>
            <a:off x="6309360" y="3227832"/>
            <a:ext cx="4800600" cy="45720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087E79"/>
                </a:solidFill>
                <a:latin typeface="Arial"/>
              </a:defRPr>
            </a:pPr>
            <a:r>
              <a:t>Admissibility</a:t>
            </a:r>
          </a:p>
        </p:txBody>
      </p:sp>
      <p:sp>
        <p:nvSpPr>
          <p:cNvPr id="24" name="TextBox 23"/>
          <p:cNvSpPr txBox="1"/>
          <p:nvPr/>
        </p:nvSpPr>
        <p:spPr>
          <a:xfrm>
            <a:off x="6309360" y="3931920"/>
            <a:ext cx="4800600" cy="1645920"/>
          </a:xfrm>
          <a:prstGeom prst="rect">
            <a:avLst/>
          </a:prstGeom>
          <a:noFill/>
        </p:spPr>
        <p:txBody>
          <a:bodyPr wrap="none" lIns="0" rIns="0" tIns="0" bIns="0" anchor="t">
            <a:spAutoFit/>
          </a:bodyPr>
          <a:lstStyle/>
          <a:p>
            <a:pPr algn="l">
              <a:lnSpc>
                <a:spcPct val="120000"/>
              </a:lnSpc>
              <a:spcBef>
                <a:spcPts val="0"/>
              </a:spcBef>
              <a:spcAft>
                <a:spcPts val="0"/>
              </a:spcAft>
              <a:defRPr sz="2300" b="0">
                <a:solidFill>
                  <a:srgbClr val="17323D"/>
                </a:solidFill>
                <a:latin typeface="Arial"/>
              </a:defRPr>
            </a:pPr>
            <a:r>
              <a:t>Never overestimate</a:t>
            </a:r>
          </a:p>
          <a:p>
            <a:pPr algn="l">
              <a:lnSpc>
                <a:spcPct val="120000"/>
              </a:lnSpc>
              <a:spcBef>
                <a:spcPts val="0"/>
              </a:spcBef>
              <a:spcAft>
                <a:spcPts val="0"/>
              </a:spcAft>
              <a:defRPr sz="2300" b="0">
                <a:solidFill>
                  <a:srgbClr val="17323D"/>
                </a:solidFill>
                <a:latin typeface="Arial"/>
              </a:defRPr>
            </a:pPr>
            <a:r>
              <a:t>the true remaining</a:t>
            </a:r>
          </a:p>
          <a:p>
            <a:pPr algn="l">
              <a:lnSpc>
                <a:spcPct val="120000"/>
              </a:lnSpc>
              <a:spcBef>
                <a:spcPts val="0"/>
              </a:spcBef>
              <a:spcAft>
                <a:spcPts val="0"/>
              </a:spcAft>
              <a:defRPr sz="2300" b="0">
                <a:solidFill>
                  <a:srgbClr val="17323D"/>
                </a:solidFill>
                <a:latin typeface="Arial"/>
              </a:defRPr>
            </a:pPr>
            <a:r>
              <a:t>optimal cost.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COUNTEREXAMPLE / REOPENING</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61-66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Does admissibility let us close forever?</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All h values are admissible. Inspect the edge B → A.</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R3 · R4</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20</a:t>
            </a:r>
          </a:p>
        </p:txBody>
      </p:sp>
      <p:sp>
        <p:nvSpPr>
          <p:cNvPr id="19" name="Rounded Rectangle 18"/>
          <p:cNvSpPr/>
          <p:nvPr/>
        </p:nvSpPr>
        <p:spPr>
          <a:xfrm>
            <a:off x="594360" y="1801368"/>
            <a:ext cx="6967728" cy="3858768"/>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eopening_graph.png"/>
          <p:cNvPicPr>
            <a:picLocks noChangeAspect="1"/>
          </p:cNvPicPr>
          <p:nvPr/>
        </p:nvPicPr>
        <p:blipFill>
          <a:blip r:embed="rId2"/>
          <a:stretch>
            <a:fillRect/>
          </a:stretch>
        </p:blipFill>
        <p:spPr>
          <a:xfrm>
            <a:off x="833862" y="1865376"/>
            <a:ext cx="6488723" cy="3749039"/>
          </a:xfrm>
          <a:prstGeom prst="rect">
            <a:avLst/>
          </a:prstGeom>
        </p:spPr>
      </p:pic>
      <p:sp>
        <p:nvSpPr>
          <p:cNvPr id="21" name="TextBox 20"/>
          <p:cNvSpPr txBox="1"/>
          <p:nvPr/>
        </p:nvSpPr>
        <p:spPr>
          <a:xfrm>
            <a:off x="7909560" y="2121408"/>
            <a:ext cx="3566160" cy="77724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Predict, then trace</a:t>
            </a:r>
          </a:p>
        </p:txBody>
      </p:sp>
      <p:sp>
        <p:nvSpPr>
          <p:cNvPr id="22" name="Rectangle 21"/>
          <p:cNvSpPr/>
          <p:nvPr/>
        </p:nvSpPr>
        <p:spPr>
          <a:xfrm>
            <a:off x="7909560" y="2898648"/>
            <a:ext cx="502920" cy="41148"/>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9560" y="3182112"/>
            <a:ext cx="3566160" cy="2331720"/>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A is expanded at g=3.</a:t>
            </a:r>
          </a:p>
          <a:p>
            <a:pPr algn="l">
              <a:lnSpc>
                <a:spcPct val="120000"/>
              </a:lnSpc>
              <a:spcBef>
                <a:spcPts val="0"/>
              </a:spcBef>
              <a:spcAft>
                <a:spcPts val="0"/>
              </a:spcAft>
              <a:defRPr sz="2200" b="0">
                <a:solidFill>
                  <a:srgbClr val="17323D"/>
                </a:solidFill>
                <a:latin typeface="Arial"/>
              </a:defRPr>
            </a:pPr>
            <a:r>
              <a:t>B later proposes A at</a:t>
            </a:r>
          </a:p>
          <a:p>
            <a:pPr algn="l">
              <a:lnSpc>
                <a:spcPct val="120000"/>
              </a:lnSpc>
              <a:spcBef>
                <a:spcPts val="0"/>
              </a:spcBef>
              <a:spcAft>
                <a:spcPts val="0"/>
              </a:spcAft>
              <a:defRPr sz="2200" b="0">
                <a:solidFill>
                  <a:srgbClr val="17323D"/>
                </a:solidFill>
                <a:latin typeface="Arial"/>
              </a:defRPr>
            </a:pPr>
            <a:r>
              <a:t>g=2.</a:t>
            </a:r>
          </a:p>
          <a:p>
            <a:pPr algn="l">
              <a:lnSpc>
                <a:spcPct val="120000"/>
              </a:lnSpc>
              <a:spcBef>
                <a:spcPts val="0"/>
              </a:spcBef>
              <a:spcAft>
                <a:spcPts val="0"/>
              </a:spcAft>
              <a:defRPr sz="2200" b="0">
                <a:solidFill>
                  <a:srgbClr val="17323D"/>
                </a:solidFill>
                <a:latin typeface="Arial"/>
              </a:defRPr>
            </a:pPr>
          </a:p>
          <a:p>
            <a:pPr algn="l">
              <a:lnSpc>
                <a:spcPct val="120000"/>
              </a:lnSpc>
              <a:spcBef>
                <a:spcPts val="0"/>
              </a:spcBef>
              <a:spcAft>
                <a:spcPts val="0"/>
              </a:spcAft>
              <a:defRPr sz="2200" b="0">
                <a:solidFill>
                  <a:srgbClr val="17323D"/>
                </a:solidFill>
                <a:latin typeface="Arial"/>
              </a:defRPr>
            </a:pPr>
            <a:r>
              <a:t>Should we ignore</a:t>
            </a:r>
          </a:p>
          <a:p>
            <a:pPr algn="l">
              <a:lnSpc>
                <a:spcPct val="120000"/>
              </a:lnSpc>
              <a:spcBef>
                <a:spcPts val="0"/>
              </a:spcBef>
              <a:spcAft>
                <a:spcPts val="0"/>
              </a:spcAft>
              <a:defRPr sz="2200" b="0">
                <a:solidFill>
                  <a:srgbClr val="17323D"/>
                </a:solidFill>
                <a:latin typeface="Arial"/>
              </a:defRPr>
            </a:pPr>
            <a:r>
              <a:t>that improvement?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CONSISTENCY AS NONNEGATIVE REWEIGHTING</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66-68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Recover the finalization argument.</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Along a route:  g_h(v) = f(v) - h(S).  The ordering is Dijkstra again.</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R4</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21</a:t>
            </a:r>
          </a:p>
        </p:txBody>
      </p:sp>
      <p:sp>
        <p:nvSpPr>
          <p:cNvPr id="19" name="Rounded Rectangle 18"/>
          <p:cNvSpPr/>
          <p:nvPr/>
        </p:nvSpPr>
        <p:spPr>
          <a:xfrm>
            <a:off x="594360" y="1856231"/>
            <a:ext cx="10991088" cy="914400"/>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103120"/>
            <a:ext cx="10424160" cy="530352"/>
          </a:xfrm>
          <a:prstGeom prst="rect">
            <a:avLst/>
          </a:prstGeom>
          <a:noFill/>
        </p:spPr>
        <p:txBody>
          <a:bodyPr wrap="none" lIns="0" rIns="0" tIns="0" bIns="0" anchor="t">
            <a:spAutoFit/>
          </a:bodyPr>
          <a:lstStyle/>
          <a:p>
            <a:pPr algn="l">
              <a:lnSpc>
                <a:spcPct val="120000"/>
              </a:lnSpc>
              <a:spcBef>
                <a:spcPts val="0"/>
              </a:spcBef>
              <a:spcAft>
                <a:spcPts val="0"/>
              </a:spcAft>
              <a:defRPr sz="2900" b="1">
                <a:solidFill>
                  <a:srgbClr val="FFFEFB"/>
                </a:solidFill>
                <a:latin typeface="Arial"/>
              </a:defRPr>
            </a:pPr>
            <a:r>
              <a:t>h(u) ≤ c(u,v) + h(v)</a:t>
            </a:r>
          </a:p>
        </p:txBody>
      </p:sp>
      <p:sp>
        <p:nvSpPr>
          <p:cNvPr id="21" name="TextBox 20"/>
          <p:cNvSpPr txBox="1"/>
          <p:nvPr/>
        </p:nvSpPr>
        <p:spPr>
          <a:xfrm>
            <a:off x="822960" y="3227832"/>
            <a:ext cx="4800600" cy="45720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087E79"/>
                </a:solidFill>
                <a:latin typeface="Arial"/>
              </a:defRPr>
            </a:pPr>
            <a:r>
              <a:t>Local condition</a:t>
            </a:r>
          </a:p>
        </p:txBody>
      </p:sp>
      <p:sp>
        <p:nvSpPr>
          <p:cNvPr id="22" name="TextBox 21"/>
          <p:cNvSpPr txBox="1"/>
          <p:nvPr/>
        </p:nvSpPr>
        <p:spPr>
          <a:xfrm>
            <a:off x="822960" y="3931920"/>
            <a:ext cx="4800600" cy="1645920"/>
          </a:xfrm>
          <a:prstGeom prst="rect">
            <a:avLst/>
          </a:prstGeom>
          <a:noFill/>
        </p:spPr>
        <p:txBody>
          <a:bodyPr wrap="none" lIns="0" rIns="0" tIns="0" bIns="0" anchor="t">
            <a:spAutoFit/>
          </a:bodyPr>
          <a:lstStyle/>
          <a:p>
            <a:pPr algn="l">
              <a:lnSpc>
                <a:spcPct val="120000"/>
              </a:lnSpc>
              <a:spcBef>
                <a:spcPts val="0"/>
              </a:spcBef>
              <a:spcAft>
                <a:spcPts val="0"/>
              </a:spcAft>
              <a:defRPr sz="2300" b="0">
                <a:solidFill>
                  <a:srgbClr val="17323D"/>
                </a:solidFill>
                <a:latin typeface="Arial"/>
              </a:defRPr>
            </a:pPr>
            <a:r>
              <a:t>The estimate cannot drop</a:t>
            </a:r>
          </a:p>
          <a:p>
            <a:pPr algn="l">
              <a:lnSpc>
                <a:spcPct val="120000"/>
              </a:lnSpc>
              <a:spcBef>
                <a:spcPts val="0"/>
              </a:spcBef>
              <a:spcAft>
                <a:spcPts val="0"/>
              </a:spcAft>
              <a:defRPr sz="2300" b="0">
                <a:solidFill>
                  <a:srgbClr val="17323D"/>
                </a:solidFill>
                <a:latin typeface="Arial"/>
              </a:defRPr>
            </a:pPr>
            <a:r>
              <a:t>by more than the cost</a:t>
            </a:r>
          </a:p>
          <a:p>
            <a:pPr algn="l">
              <a:lnSpc>
                <a:spcPct val="120000"/>
              </a:lnSpc>
              <a:spcBef>
                <a:spcPts val="0"/>
              </a:spcBef>
              <a:spcAft>
                <a:spcPts val="0"/>
              </a:spcAft>
              <a:defRPr sz="2300" b="0">
                <a:solidFill>
                  <a:srgbClr val="17323D"/>
                </a:solidFill>
                <a:latin typeface="Arial"/>
              </a:defRPr>
            </a:pPr>
            <a:r>
              <a:t>of taking an edge.</a:t>
            </a:r>
          </a:p>
        </p:txBody>
      </p:sp>
      <p:sp>
        <p:nvSpPr>
          <p:cNvPr id="23" name="TextBox 22"/>
          <p:cNvSpPr txBox="1"/>
          <p:nvPr/>
        </p:nvSpPr>
        <p:spPr>
          <a:xfrm>
            <a:off x="6309360" y="3227832"/>
            <a:ext cx="4800600" cy="45720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087E79"/>
                </a:solidFill>
                <a:latin typeface="Arial"/>
              </a:defRPr>
            </a:pPr>
            <a:r>
              <a:t>Reweighted cost</a:t>
            </a:r>
          </a:p>
        </p:txBody>
      </p:sp>
      <p:sp>
        <p:nvSpPr>
          <p:cNvPr id="24" name="TextBox 23"/>
          <p:cNvSpPr txBox="1"/>
          <p:nvPr/>
        </p:nvSpPr>
        <p:spPr>
          <a:xfrm>
            <a:off x="6309360" y="3931920"/>
            <a:ext cx="4800600" cy="1645920"/>
          </a:xfrm>
          <a:prstGeom prst="rect">
            <a:avLst/>
          </a:prstGeom>
          <a:noFill/>
        </p:spPr>
        <p:txBody>
          <a:bodyPr wrap="none" lIns="0" rIns="0" tIns="0" bIns="0" anchor="t">
            <a:spAutoFit/>
          </a:bodyPr>
          <a:lstStyle/>
          <a:p>
            <a:pPr algn="l">
              <a:lnSpc>
                <a:spcPct val="120000"/>
              </a:lnSpc>
              <a:spcBef>
                <a:spcPts val="0"/>
              </a:spcBef>
              <a:spcAft>
                <a:spcPts val="0"/>
              </a:spcAft>
              <a:defRPr sz="2300" b="0">
                <a:solidFill>
                  <a:srgbClr val="17323D"/>
                </a:solidFill>
                <a:latin typeface="Arial"/>
              </a:defRPr>
            </a:pPr>
            <a:r>
              <a:t>c_h(u,v) = c(u,v)</a:t>
            </a:r>
          </a:p>
          <a:p>
            <a:pPr algn="l">
              <a:lnSpc>
                <a:spcPct val="120000"/>
              </a:lnSpc>
              <a:spcBef>
                <a:spcPts val="0"/>
              </a:spcBef>
              <a:spcAft>
                <a:spcPts val="0"/>
              </a:spcAft>
              <a:defRPr sz="2300" b="0">
                <a:solidFill>
                  <a:srgbClr val="17323D"/>
                </a:solidFill>
                <a:latin typeface="Arial"/>
              </a:defRPr>
            </a:pPr>
            <a:r>
              <a:t>+ h(v) - h(u)</a:t>
            </a:r>
          </a:p>
          <a:p>
            <a:pPr algn="l">
              <a:lnSpc>
                <a:spcPct val="120000"/>
              </a:lnSpc>
              <a:spcBef>
                <a:spcPts val="0"/>
              </a:spcBef>
              <a:spcAft>
                <a:spcPts val="0"/>
              </a:spcAft>
              <a:defRPr sz="2300" b="0">
                <a:solidFill>
                  <a:srgbClr val="17323D"/>
                </a:solidFill>
                <a:latin typeface="Arial"/>
              </a:defRPr>
            </a:pPr>
            <a:r>
              <a:t>Consistency means c_h ≥ 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LIVE CODE / CHECKPOINT 06</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68-73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A small code change. A new proof obligation.</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Do not compare f against g in the stale-entry guard.</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R2 · R3</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22</a:t>
            </a:r>
          </a:p>
        </p:txBody>
      </p:sp>
      <p:sp>
        <p:nvSpPr>
          <p:cNvPr id="19" name="Rounded Rectangle 18"/>
          <p:cNvSpPr/>
          <p:nvPr/>
        </p:nvSpPr>
        <p:spPr>
          <a:xfrm>
            <a:off x="594360" y="1856231"/>
            <a:ext cx="7095744" cy="3785615"/>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2212848"/>
            <a:ext cx="6528816" cy="3090672"/>
          </a:xfrm>
          <a:prstGeom prst="rect">
            <a:avLst/>
          </a:prstGeom>
          <a:noFill/>
        </p:spPr>
        <p:txBody>
          <a:bodyPr wrap="none" lIns="0" rIns="0" tIns="0" bIns="0" anchor="t">
            <a:spAutoFit/>
          </a:bodyPr>
          <a:lstStyle/>
          <a:p>
            <a:pPr algn="l">
              <a:lnSpc>
                <a:spcPct val="120000"/>
              </a:lnSpc>
              <a:spcBef>
                <a:spcPts val="0"/>
              </a:spcBef>
              <a:spcAft>
                <a:spcPts val="0"/>
              </a:spcAft>
              <a:defRPr sz="1900" b="0">
                <a:solidFill>
                  <a:srgbClr val="E3F2E9"/>
                </a:solidFill>
                <a:latin typeface="Consolas"/>
              </a:defRPr>
            </a:pPr>
            <a:r>
              <a:t>priority = candidate + h(v)</a:t>
            </a:r>
          </a:p>
          <a:p>
            <a:pPr algn="l">
              <a:lnSpc>
                <a:spcPct val="120000"/>
              </a:lnSpc>
              <a:spcBef>
                <a:spcPts val="0"/>
              </a:spcBef>
              <a:spcAft>
                <a:spcPts val="0"/>
              </a:spcAft>
              <a:defRPr sz="1900" b="0">
                <a:solidFill>
                  <a:srgbClr val="E3F2E9"/>
                </a:solidFill>
                <a:latin typeface="Consolas"/>
              </a:defRPr>
            </a:pPr>
            <a:r>
              <a:t>heappush(queue,</a:t>
            </a:r>
          </a:p>
          <a:p>
            <a:pPr algn="l">
              <a:lnSpc>
                <a:spcPct val="120000"/>
              </a:lnSpc>
              <a:spcBef>
                <a:spcPts val="0"/>
              </a:spcBef>
              <a:spcAft>
                <a:spcPts val="0"/>
              </a:spcAft>
              <a:defRPr sz="1900" b="0">
                <a:solidFill>
                  <a:srgbClr val="E3F2E9"/>
                </a:solidFill>
                <a:latin typeface="Consolas"/>
              </a:defRPr>
            </a:pPr>
            <a:r>
              <a:t>         (priority, ticket, candidate, v))</a:t>
            </a:r>
          </a:p>
          <a:p>
            <a:pPr algn="l">
              <a:lnSpc>
                <a:spcPct val="120000"/>
              </a:lnSpc>
              <a:spcBef>
                <a:spcPts val="0"/>
              </a:spcBef>
              <a:spcAft>
                <a:spcPts val="0"/>
              </a:spcAft>
              <a:defRPr sz="1900" b="0">
                <a:solidFill>
                  <a:srgbClr val="E3F2E9"/>
                </a:solidFill>
                <a:latin typeface="Consolas"/>
              </a:defRPr>
            </a:pPr>
          </a:p>
          <a:p>
            <a:pPr algn="l">
              <a:lnSpc>
                <a:spcPct val="120000"/>
              </a:lnSpc>
              <a:spcBef>
                <a:spcPts val="0"/>
              </a:spcBef>
              <a:spcAft>
                <a:spcPts val="0"/>
              </a:spcAft>
              <a:defRPr sz="1900" b="0">
                <a:solidFill>
                  <a:srgbClr val="E3F2E9"/>
                </a:solidFill>
                <a:latin typeface="Consolas"/>
              </a:defRPr>
            </a:pPr>
            <a:r>
              <a:t>f, _, queued_g, u = heappop(queue)</a:t>
            </a:r>
          </a:p>
          <a:p>
            <a:pPr algn="l">
              <a:lnSpc>
                <a:spcPct val="120000"/>
              </a:lnSpc>
              <a:spcBef>
                <a:spcPts val="0"/>
              </a:spcBef>
              <a:spcAft>
                <a:spcPts val="0"/>
              </a:spcAft>
              <a:defRPr sz="1900" b="0">
                <a:solidFill>
                  <a:srgbClr val="E3F2E9"/>
                </a:solidFill>
                <a:latin typeface="Consolas"/>
              </a:defRPr>
            </a:pPr>
            <a:r>
              <a:t>if queued_g != dist[u]:</a:t>
            </a:r>
          </a:p>
          <a:p>
            <a:pPr algn="l">
              <a:lnSpc>
                <a:spcPct val="120000"/>
              </a:lnSpc>
              <a:spcBef>
                <a:spcPts val="0"/>
              </a:spcBef>
              <a:spcAft>
                <a:spcPts val="0"/>
              </a:spcAft>
              <a:defRPr sz="1900" b="0">
                <a:solidFill>
                  <a:srgbClr val="E3F2E9"/>
                </a:solidFill>
                <a:latin typeface="Consolas"/>
              </a:defRPr>
            </a:pPr>
            <a:r>
              <a:t>    continue</a:t>
            </a:r>
          </a:p>
        </p:txBody>
      </p:sp>
      <p:sp>
        <p:nvSpPr>
          <p:cNvPr id="21" name="TextBox 20"/>
          <p:cNvSpPr txBox="1"/>
          <p:nvPr/>
        </p:nvSpPr>
        <p:spPr>
          <a:xfrm>
            <a:off x="8028431" y="2176272"/>
            <a:ext cx="3474720" cy="676656"/>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Keep the distinctions</a:t>
            </a:r>
          </a:p>
        </p:txBody>
      </p:sp>
      <p:sp>
        <p:nvSpPr>
          <p:cNvPr id="22" name="Rectangle 21"/>
          <p:cNvSpPr/>
          <p:nvPr/>
        </p:nvSpPr>
        <p:spPr>
          <a:xfrm>
            <a:off x="8028431" y="2971800"/>
            <a:ext cx="502920" cy="41148"/>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28431" y="3264408"/>
            <a:ext cx="3474720" cy="2240280"/>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f chooses what comes</a:t>
            </a:r>
          </a:p>
          <a:p>
            <a:pPr algn="l">
              <a:lnSpc>
                <a:spcPct val="120000"/>
              </a:lnSpc>
              <a:spcBef>
                <a:spcPts val="0"/>
              </a:spcBef>
              <a:spcAft>
                <a:spcPts val="0"/>
              </a:spcAft>
              <a:defRPr sz="2200" b="0">
                <a:solidFill>
                  <a:srgbClr val="17323D"/>
                </a:solidFill>
                <a:latin typeface="Arial"/>
              </a:defRPr>
            </a:pPr>
            <a:r>
              <a:t>next.</a:t>
            </a:r>
          </a:p>
          <a:p>
            <a:pPr algn="l">
              <a:lnSpc>
                <a:spcPct val="120000"/>
              </a:lnSpc>
              <a:spcBef>
                <a:spcPts val="0"/>
              </a:spcBef>
              <a:spcAft>
                <a:spcPts val="0"/>
              </a:spcAft>
              <a:defRPr sz="2200" b="0">
                <a:solidFill>
                  <a:srgbClr val="17323D"/>
                </a:solidFill>
                <a:latin typeface="Arial"/>
              </a:defRPr>
            </a:pPr>
            <a:r>
              <a:t>g records the route cost.</a:t>
            </a:r>
          </a:p>
          <a:p>
            <a:pPr algn="l">
              <a:lnSpc>
                <a:spcPct val="120000"/>
              </a:lnSpc>
              <a:spcBef>
                <a:spcPts val="0"/>
              </a:spcBef>
              <a:spcAft>
                <a:spcPts val="0"/>
              </a:spcAft>
              <a:defRPr sz="2200" b="0">
                <a:solidFill>
                  <a:srgbClr val="17323D"/>
                </a:solidFill>
                <a:latin typeface="Arial"/>
              </a:defRPr>
            </a:pPr>
            <a:r>
              <a:t>A better g may reopen a</a:t>
            </a:r>
          </a:p>
          <a:p>
            <a:pPr algn="l">
              <a:lnSpc>
                <a:spcPct val="120000"/>
              </a:lnSpc>
              <a:spcBef>
                <a:spcPts val="0"/>
              </a:spcBef>
              <a:spcAft>
                <a:spcPts val="0"/>
              </a:spcAft>
              <a:defRPr sz="2200" b="0">
                <a:solidFill>
                  <a:srgbClr val="17323D"/>
                </a:solidFill>
                <a:latin typeface="Arial"/>
              </a:defRPr>
            </a:pPr>
            <a:r>
              <a:t>state.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COMPARE CORRECT OUTPUTS FIRST</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73-77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Which improvements did we actually obtain?</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Goal extraction is not an expansion. These counts describe this fixture, not every graph.</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23</a:t>
            </a:r>
          </a:p>
        </p:txBody>
      </p:sp>
      <p:sp>
        <p:nvSpPr>
          <p:cNvPr id="19" name="Rectangle 18"/>
          <p:cNvSpPr/>
          <p:nvPr/>
        </p:nvSpPr>
        <p:spPr>
          <a:xfrm>
            <a:off x="594360" y="1920240"/>
            <a:ext cx="3736969" cy="685800"/>
          </a:xfrm>
          <a:prstGeom prst="rect">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039112"/>
            <a:ext cx="3499225" cy="521208"/>
          </a:xfrm>
          <a:prstGeom prst="rect">
            <a:avLst/>
          </a:prstGeom>
          <a:noFill/>
        </p:spPr>
        <p:txBody>
          <a:bodyPr wrap="none" lIns="0" rIns="0" tIns="0" bIns="0" anchor="t">
            <a:spAutoFit/>
          </a:bodyPr>
          <a:lstStyle/>
          <a:p>
            <a:pPr algn="l">
              <a:lnSpc>
                <a:spcPct val="120000"/>
              </a:lnSpc>
              <a:spcBef>
                <a:spcPts val="0"/>
              </a:spcBef>
              <a:spcAft>
                <a:spcPts val="0"/>
              </a:spcAft>
              <a:defRPr sz="2000" b="1">
                <a:solidFill>
                  <a:srgbClr val="FFFEFB"/>
                </a:solidFill>
                <a:latin typeface="Arial"/>
              </a:defRPr>
            </a:pPr>
            <a:r>
              <a:t>Main graph</a:t>
            </a:r>
          </a:p>
        </p:txBody>
      </p:sp>
      <p:sp>
        <p:nvSpPr>
          <p:cNvPr id="21" name="Rectangle 20"/>
          <p:cNvSpPr/>
          <p:nvPr/>
        </p:nvSpPr>
        <p:spPr>
          <a:xfrm>
            <a:off x="4331329" y="1920240"/>
            <a:ext cx="1318930" cy="685800"/>
          </a:xfrm>
          <a:prstGeom prst="rect">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50201" y="2039112"/>
            <a:ext cx="1081186" cy="521208"/>
          </a:xfrm>
          <a:prstGeom prst="rect">
            <a:avLst/>
          </a:prstGeom>
          <a:noFill/>
        </p:spPr>
        <p:txBody>
          <a:bodyPr wrap="none" lIns="0" rIns="0" tIns="0" bIns="0" anchor="t">
            <a:spAutoFit/>
          </a:bodyPr>
          <a:lstStyle/>
          <a:p>
            <a:pPr algn="l">
              <a:lnSpc>
                <a:spcPct val="120000"/>
              </a:lnSpc>
              <a:spcBef>
                <a:spcPts val="0"/>
              </a:spcBef>
              <a:spcAft>
                <a:spcPts val="0"/>
              </a:spcAft>
              <a:defRPr sz="2000" b="1">
                <a:solidFill>
                  <a:srgbClr val="FFFEFB"/>
                </a:solidFill>
                <a:latin typeface="Arial"/>
              </a:defRPr>
            </a:pPr>
            <a:r>
              <a:t>Cost</a:t>
            </a:r>
          </a:p>
        </p:txBody>
      </p:sp>
      <p:sp>
        <p:nvSpPr>
          <p:cNvPr id="23" name="Rectangle 22"/>
          <p:cNvSpPr/>
          <p:nvPr/>
        </p:nvSpPr>
        <p:spPr>
          <a:xfrm>
            <a:off x="5650260" y="1920240"/>
            <a:ext cx="2198217" cy="685800"/>
          </a:xfrm>
          <a:prstGeom prst="rect">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9132" y="2039112"/>
            <a:ext cx="1960473" cy="521208"/>
          </a:xfrm>
          <a:prstGeom prst="rect">
            <a:avLst/>
          </a:prstGeom>
          <a:noFill/>
        </p:spPr>
        <p:txBody>
          <a:bodyPr wrap="none" lIns="0" rIns="0" tIns="0" bIns="0" anchor="t">
            <a:spAutoFit/>
          </a:bodyPr>
          <a:lstStyle/>
          <a:p>
            <a:pPr algn="l">
              <a:lnSpc>
                <a:spcPct val="120000"/>
              </a:lnSpc>
              <a:spcBef>
                <a:spcPts val="0"/>
              </a:spcBef>
              <a:spcAft>
                <a:spcPts val="0"/>
              </a:spcAft>
              <a:defRPr sz="2000" b="1">
                <a:solidFill>
                  <a:srgbClr val="FFFEFB"/>
                </a:solidFill>
                <a:latin typeface="Arial"/>
              </a:defRPr>
            </a:pPr>
            <a:r>
              <a:t>Expansions</a:t>
            </a:r>
          </a:p>
        </p:txBody>
      </p:sp>
      <p:sp>
        <p:nvSpPr>
          <p:cNvPr id="25" name="Rectangle 24"/>
          <p:cNvSpPr/>
          <p:nvPr/>
        </p:nvSpPr>
        <p:spPr>
          <a:xfrm>
            <a:off x="7848478" y="1920240"/>
            <a:ext cx="1868484" cy="685800"/>
          </a:xfrm>
          <a:prstGeom prst="rect">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67350" y="2039112"/>
            <a:ext cx="1630740" cy="521208"/>
          </a:xfrm>
          <a:prstGeom prst="rect">
            <a:avLst/>
          </a:prstGeom>
          <a:noFill/>
        </p:spPr>
        <p:txBody>
          <a:bodyPr wrap="none" lIns="0" rIns="0" tIns="0" bIns="0" anchor="t">
            <a:spAutoFit/>
          </a:bodyPr>
          <a:lstStyle/>
          <a:p>
            <a:pPr algn="l">
              <a:lnSpc>
                <a:spcPct val="120000"/>
              </a:lnSpc>
              <a:spcBef>
                <a:spcPts val="0"/>
              </a:spcBef>
              <a:spcAft>
                <a:spcPts val="0"/>
              </a:spcAft>
              <a:defRPr sz="2000" b="1">
                <a:solidFill>
                  <a:srgbClr val="FFFEFB"/>
                </a:solidFill>
                <a:latin typeface="Arial"/>
              </a:defRPr>
            </a:pPr>
            <a:r>
              <a:t>Stale skips</a:t>
            </a:r>
          </a:p>
        </p:txBody>
      </p:sp>
      <p:sp>
        <p:nvSpPr>
          <p:cNvPr id="27" name="Rectangle 26"/>
          <p:cNvSpPr/>
          <p:nvPr/>
        </p:nvSpPr>
        <p:spPr>
          <a:xfrm>
            <a:off x="9716963" y="1920240"/>
            <a:ext cx="1868484" cy="685800"/>
          </a:xfrm>
          <a:prstGeom prst="rect">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35835" y="2039112"/>
            <a:ext cx="1630740" cy="521208"/>
          </a:xfrm>
          <a:prstGeom prst="rect">
            <a:avLst/>
          </a:prstGeom>
          <a:noFill/>
        </p:spPr>
        <p:txBody>
          <a:bodyPr wrap="none" lIns="0" rIns="0" tIns="0" bIns="0" anchor="t">
            <a:spAutoFit/>
          </a:bodyPr>
          <a:lstStyle/>
          <a:p>
            <a:pPr algn="l">
              <a:lnSpc>
                <a:spcPct val="120000"/>
              </a:lnSpc>
              <a:spcBef>
                <a:spcPts val="0"/>
              </a:spcBef>
              <a:spcAft>
                <a:spcPts val="0"/>
              </a:spcAft>
              <a:defRPr sz="1939" b="1">
                <a:solidFill>
                  <a:srgbClr val="FFFEFB"/>
                </a:solidFill>
                <a:latin typeface="Arial"/>
              </a:defRPr>
            </a:pPr>
            <a:r>
              <a:t>Peak queue</a:t>
            </a:r>
          </a:p>
        </p:txBody>
      </p:sp>
      <p:sp>
        <p:nvSpPr>
          <p:cNvPr id="29" name="Rectangle 28"/>
          <p:cNvSpPr/>
          <p:nvPr/>
        </p:nvSpPr>
        <p:spPr>
          <a:xfrm>
            <a:off x="594360" y="2606040"/>
            <a:ext cx="3736969" cy="68580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2724912"/>
            <a:ext cx="3499225" cy="521208"/>
          </a:xfrm>
          <a:prstGeom prst="rect">
            <a:avLst/>
          </a:prstGeom>
          <a:noFill/>
        </p:spPr>
        <p:txBody>
          <a:bodyPr wrap="none" lIns="0" rIns="0" tIns="0" bIns="0" anchor="t">
            <a:spAutoFit/>
          </a:bodyPr>
          <a:lstStyle/>
          <a:p>
            <a:pPr algn="l">
              <a:lnSpc>
                <a:spcPct val="120000"/>
              </a:lnSpc>
              <a:spcBef>
                <a:spcPts val="0"/>
              </a:spcBef>
              <a:spcAft>
                <a:spcPts val="0"/>
              </a:spcAft>
              <a:defRPr sz="2000" b="1">
                <a:solidFill>
                  <a:srgbClr val="17323D"/>
                </a:solidFill>
                <a:latin typeface="Arial"/>
              </a:defRPr>
            </a:pPr>
            <a:r>
              <a:t>Dijkstra / lazy</a:t>
            </a:r>
          </a:p>
        </p:txBody>
      </p:sp>
      <p:sp>
        <p:nvSpPr>
          <p:cNvPr id="31" name="Rectangle 30"/>
          <p:cNvSpPr/>
          <p:nvPr/>
        </p:nvSpPr>
        <p:spPr>
          <a:xfrm>
            <a:off x="4331329" y="2606040"/>
            <a:ext cx="1318930" cy="68580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50201" y="2724912"/>
            <a:ext cx="1081186" cy="521208"/>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8</a:t>
            </a:r>
          </a:p>
        </p:txBody>
      </p:sp>
      <p:sp>
        <p:nvSpPr>
          <p:cNvPr id="33" name="Rectangle 32"/>
          <p:cNvSpPr/>
          <p:nvPr/>
        </p:nvSpPr>
        <p:spPr>
          <a:xfrm>
            <a:off x="5650260" y="2606040"/>
            <a:ext cx="2198217" cy="68580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69132" y="2724912"/>
            <a:ext cx="1960473" cy="521208"/>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8</a:t>
            </a:r>
          </a:p>
        </p:txBody>
      </p:sp>
      <p:sp>
        <p:nvSpPr>
          <p:cNvPr id="35" name="Rectangle 34"/>
          <p:cNvSpPr/>
          <p:nvPr/>
        </p:nvSpPr>
        <p:spPr>
          <a:xfrm>
            <a:off x="7848478" y="2606040"/>
            <a:ext cx="1868484" cy="68580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67350" y="2724912"/>
            <a:ext cx="1630740" cy="521208"/>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2</a:t>
            </a:r>
          </a:p>
        </p:txBody>
      </p:sp>
      <p:sp>
        <p:nvSpPr>
          <p:cNvPr id="37" name="Rectangle 36"/>
          <p:cNvSpPr/>
          <p:nvPr/>
        </p:nvSpPr>
        <p:spPr>
          <a:xfrm>
            <a:off x="9716963" y="2606040"/>
            <a:ext cx="1868484" cy="68580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35835" y="2724912"/>
            <a:ext cx="1630740" cy="521208"/>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6</a:t>
            </a:r>
          </a:p>
        </p:txBody>
      </p:sp>
      <p:sp>
        <p:nvSpPr>
          <p:cNvPr id="39" name="Rectangle 38"/>
          <p:cNvSpPr/>
          <p:nvPr/>
        </p:nvSpPr>
        <p:spPr>
          <a:xfrm>
            <a:off x="594360" y="3291840"/>
            <a:ext cx="3736969" cy="685800"/>
          </a:xfrm>
          <a:prstGeom prst="rect">
            <a:avLst/>
          </a:prstGeom>
          <a:solidFill>
            <a:srgbClr val="EA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3410712"/>
            <a:ext cx="3499225" cy="521208"/>
          </a:xfrm>
          <a:prstGeom prst="rect">
            <a:avLst/>
          </a:prstGeom>
          <a:noFill/>
        </p:spPr>
        <p:txBody>
          <a:bodyPr wrap="none" lIns="0" rIns="0" tIns="0" bIns="0" anchor="t">
            <a:spAutoFit/>
          </a:bodyPr>
          <a:lstStyle/>
          <a:p>
            <a:pPr algn="l">
              <a:lnSpc>
                <a:spcPct val="120000"/>
              </a:lnSpc>
              <a:spcBef>
                <a:spcPts val="0"/>
              </a:spcBef>
              <a:spcAft>
                <a:spcPts val="0"/>
              </a:spcAft>
              <a:defRPr sz="2000" b="1">
                <a:solidFill>
                  <a:srgbClr val="17323D"/>
                </a:solidFill>
                <a:latin typeface="Arial"/>
              </a:defRPr>
            </a:pPr>
            <a:r>
              <a:t>Dijkstra / eager</a:t>
            </a:r>
          </a:p>
        </p:txBody>
      </p:sp>
      <p:sp>
        <p:nvSpPr>
          <p:cNvPr id="41" name="Rectangle 40"/>
          <p:cNvSpPr/>
          <p:nvPr/>
        </p:nvSpPr>
        <p:spPr>
          <a:xfrm>
            <a:off x="4331329" y="3291840"/>
            <a:ext cx="1318930" cy="685800"/>
          </a:xfrm>
          <a:prstGeom prst="rect">
            <a:avLst/>
          </a:prstGeom>
          <a:solidFill>
            <a:srgbClr val="EA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50201" y="3410712"/>
            <a:ext cx="1081186" cy="521208"/>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8</a:t>
            </a:r>
          </a:p>
        </p:txBody>
      </p:sp>
      <p:sp>
        <p:nvSpPr>
          <p:cNvPr id="43" name="Rectangle 42"/>
          <p:cNvSpPr/>
          <p:nvPr/>
        </p:nvSpPr>
        <p:spPr>
          <a:xfrm>
            <a:off x="5650260" y="3291840"/>
            <a:ext cx="2198217" cy="685800"/>
          </a:xfrm>
          <a:prstGeom prst="rect">
            <a:avLst/>
          </a:prstGeom>
          <a:solidFill>
            <a:srgbClr val="EA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69132" y="3410712"/>
            <a:ext cx="1960473" cy="521208"/>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8</a:t>
            </a:r>
          </a:p>
        </p:txBody>
      </p:sp>
      <p:sp>
        <p:nvSpPr>
          <p:cNvPr id="45" name="Rectangle 44"/>
          <p:cNvSpPr/>
          <p:nvPr/>
        </p:nvSpPr>
        <p:spPr>
          <a:xfrm>
            <a:off x="7848478" y="3291840"/>
            <a:ext cx="1868484" cy="685800"/>
          </a:xfrm>
          <a:prstGeom prst="rect">
            <a:avLst/>
          </a:prstGeom>
          <a:solidFill>
            <a:srgbClr val="EA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67350" y="3410712"/>
            <a:ext cx="1630740" cy="521208"/>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0</a:t>
            </a:r>
          </a:p>
        </p:txBody>
      </p:sp>
      <p:sp>
        <p:nvSpPr>
          <p:cNvPr id="47" name="Rectangle 46"/>
          <p:cNvSpPr/>
          <p:nvPr/>
        </p:nvSpPr>
        <p:spPr>
          <a:xfrm>
            <a:off x="9716963" y="3291840"/>
            <a:ext cx="1868484" cy="685800"/>
          </a:xfrm>
          <a:prstGeom prst="rect">
            <a:avLst/>
          </a:prstGeom>
          <a:solidFill>
            <a:srgbClr val="EA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35835" y="3410712"/>
            <a:ext cx="1630740" cy="521208"/>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4</a:t>
            </a:r>
          </a:p>
        </p:txBody>
      </p:sp>
      <p:sp>
        <p:nvSpPr>
          <p:cNvPr id="49" name="Rectangle 48"/>
          <p:cNvSpPr/>
          <p:nvPr/>
        </p:nvSpPr>
        <p:spPr>
          <a:xfrm>
            <a:off x="594360" y="3977639"/>
            <a:ext cx="3736969" cy="68580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13232" y="4096511"/>
            <a:ext cx="3499225" cy="521208"/>
          </a:xfrm>
          <a:prstGeom prst="rect">
            <a:avLst/>
          </a:prstGeom>
          <a:noFill/>
        </p:spPr>
        <p:txBody>
          <a:bodyPr wrap="none" lIns="0" rIns="0" tIns="0" bIns="0" anchor="t">
            <a:spAutoFit/>
          </a:bodyPr>
          <a:lstStyle/>
          <a:p>
            <a:pPr algn="l">
              <a:lnSpc>
                <a:spcPct val="120000"/>
              </a:lnSpc>
              <a:spcBef>
                <a:spcPts val="0"/>
              </a:spcBef>
              <a:spcAft>
                <a:spcPts val="0"/>
              </a:spcAft>
              <a:defRPr sz="2000" b="1">
                <a:solidFill>
                  <a:srgbClr val="17323D"/>
                </a:solidFill>
                <a:latin typeface="Arial"/>
              </a:defRPr>
            </a:pPr>
            <a:r>
              <a:t>A*</a:t>
            </a:r>
          </a:p>
        </p:txBody>
      </p:sp>
      <p:sp>
        <p:nvSpPr>
          <p:cNvPr id="51" name="Rectangle 50"/>
          <p:cNvSpPr/>
          <p:nvPr/>
        </p:nvSpPr>
        <p:spPr>
          <a:xfrm>
            <a:off x="4331329" y="3977639"/>
            <a:ext cx="1318930" cy="68580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450201" y="4096511"/>
            <a:ext cx="1081186" cy="521208"/>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8</a:t>
            </a:r>
          </a:p>
        </p:txBody>
      </p:sp>
      <p:sp>
        <p:nvSpPr>
          <p:cNvPr id="53" name="Rectangle 52"/>
          <p:cNvSpPr/>
          <p:nvPr/>
        </p:nvSpPr>
        <p:spPr>
          <a:xfrm>
            <a:off x="5650260" y="3977639"/>
            <a:ext cx="2198217" cy="68580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769132" y="4096511"/>
            <a:ext cx="1960473" cy="521208"/>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4</a:t>
            </a:r>
          </a:p>
        </p:txBody>
      </p:sp>
      <p:sp>
        <p:nvSpPr>
          <p:cNvPr id="55" name="Rectangle 54"/>
          <p:cNvSpPr/>
          <p:nvPr/>
        </p:nvSpPr>
        <p:spPr>
          <a:xfrm>
            <a:off x="7848478" y="3977639"/>
            <a:ext cx="1868484" cy="68580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967350" y="4096511"/>
            <a:ext cx="1630740" cy="521208"/>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0</a:t>
            </a:r>
          </a:p>
        </p:txBody>
      </p:sp>
      <p:sp>
        <p:nvSpPr>
          <p:cNvPr id="57" name="Rectangle 56"/>
          <p:cNvSpPr/>
          <p:nvPr/>
        </p:nvSpPr>
        <p:spPr>
          <a:xfrm>
            <a:off x="9716963" y="3977639"/>
            <a:ext cx="1868484" cy="68580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35835" y="4096511"/>
            <a:ext cx="1630740" cy="521208"/>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6</a:t>
            </a:r>
          </a:p>
        </p:txBody>
      </p:sp>
      <p:sp>
        <p:nvSpPr>
          <p:cNvPr id="59" name="TextBox 58"/>
          <p:cNvSpPr txBox="1"/>
          <p:nvPr/>
        </p:nvSpPr>
        <p:spPr>
          <a:xfrm>
            <a:off x="841248" y="4992624"/>
            <a:ext cx="10424160" cy="502920"/>
          </a:xfrm>
          <a:prstGeom prst="rect">
            <a:avLst/>
          </a:prstGeom>
          <a:noFill/>
        </p:spPr>
        <p:txBody>
          <a:bodyPr wrap="none" lIns="0" rIns="0" tIns="0" bIns="0" anchor="t">
            <a:spAutoFit/>
          </a:bodyPr>
          <a:lstStyle/>
          <a:p>
            <a:pPr algn="l">
              <a:lnSpc>
                <a:spcPct val="120000"/>
              </a:lnSpc>
              <a:spcBef>
                <a:spcPts val="0"/>
              </a:spcBef>
              <a:spcAft>
                <a:spcPts val="0"/>
              </a:spcAft>
              <a:defRPr sz="1919" b="1">
                <a:solidFill>
                  <a:srgbClr val="087E79"/>
                </a:solidFill>
                <a:latin typeface="Arial"/>
              </a:defRPr>
            </a:pPr>
            <a:r>
              <a:t>Fewer expansions, smaller queues, and lower runtime are different claims.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05 / EXPERIMENTS</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77-86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Compare before concluding.</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Use the worked notebook and saved results. Measure search separately from rendering.</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R7</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24</a:t>
            </a:r>
          </a:p>
        </p:txBody>
      </p:sp>
      <p:sp>
        <p:nvSpPr>
          <p:cNvPr id="19" name="Rounded Rectangle 18"/>
          <p:cNvSpPr/>
          <p:nvPr/>
        </p:nvSpPr>
        <p:spPr>
          <a:xfrm>
            <a:off x="59436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Scaling</a:t>
            </a:r>
          </a:p>
        </p:txBody>
      </p:sp>
      <p:sp>
        <p:nvSpPr>
          <p:cNvPr id="21" name="Rectangle 20"/>
          <p:cNvSpPr/>
          <p:nvPr/>
        </p:nvSpPr>
        <p:spPr>
          <a:xfrm>
            <a:off x="850392"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Complete graphs:</a:t>
            </a:r>
          </a:p>
          <a:p>
            <a:pPr algn="l">
              <a:lnSpc>
                <a:spcPct val="120000"/>
              </a:lnSpc>
              <a:spcBef>
                <a:spcPts val="0"/>
              </a:spcBef>
              <a:spcAft>
                <a:spcPts val="0"/>
              </a:spcAft>
              <a:defRPr sz="2100" b="0">
                <a:solidFill>
                  <a:srgbClr val="17323D"/>
                </a:solidFill>
                <a:latin typeface="Arial"/>
              </a:defRPr>
            </a:pPr>
            <a:r>
              <a:t>when does</a:t>
            </a:r>
          </a:p>
          <a:p>
            <a:pPr algn="l">
              <a:lnSpc>
                <a:spcPct val="120000"/>
              </a:lnSpc>
              <a:spcBef>
                <a:spcPts val="0"/>
              </a:spcBef>
              <a:spcAft>
                <a:spcPts val="0"/>
              </a:spcAft>
              <a:defRPr sz="2100" b="0">
                <a:solidFill>
                  <a:srgbClr val="17323D"/>
                </a:solidFill>
                <a:latin typeface="Arial"/>
              </a:defRPr>
            </a:pPr>
            <a:r>
              <a:t>enumeration</a:t>
            </a:r>
          </a:p>
          <a:p>
            <a:pPr algn="l">
              <a:lnSpc>
                <a:spcPct val="120000"/>
              </a:lnSpc>
              <a:spcBef>
                <a:spcPts val="0"/>
              </a:spcBef>
              <a:spcAft>
                <a:spcPts val="0"/>
              </a:spcAft>
              <a:defRPr sz="2100" b="0">
                <a:solidFill>
                  <a:srgbClr val="17323D"/>
                </a:solidFill>
                <a:latin typeface="Arial"/>
              </a:defRPr>
            </a:pPr>
            <a:r>
              <a:t>exhaust the budget?</a:t>
            </a:r>
          </a:p>
        </p:txBody>
      </p:sp>
      <p:sp>
        <p:nvSpPr>
          <p:cNvPr id="23" name="Rounded Rectangle 22"/>
          <p:cNvSpPr/>
          <p:nvPr/>
        </p:nvSpPr>
        <p:spPr>
          <a:xfrm>
            <a:off x="434340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2"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Bookkeeping</a:t>
            </a:r>
          </a:p>
        </p:txBody>
      </p:sp>
      <p:sp>
        <p:nvSpPr>
          <p:cNvPr id="25" name="Rectangle 24"/>
          <p:cNvSpPr/>
          <p:nvPr/>
        </p:nvSpPr>
        <p:spPr>
          <a:xfrm>
            <a:off x="4599432"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9432"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Lazy versus eager:</a:t>
            </a:r>
          </a:p>
          <a:p>
            <a:pPr algn="l">
              <a:lnSpc>
                <a:spcPct val="120000"/>
              </a:lnSpc>
              <a:spcBef>
                <a:spcPts val="0"/>
              </a:spcBef>
              <a:spcAft>
                <a:spcPts val="0"/>
              </a:spcAft>
              <a:defRPr sz="2100" b="0">
                <a:solidFill>
                  <a:srgbClr val="17323D"/>
                </a:solidFill>
                <a:latin typeface="Arial"/>
              </a:defRPr>
            </a:pPr>
            <a:r>
              <a:t>did fewer queue</a:t>
            </a:r>
          </a:p>
          <a:p>
            <a:pPr algn="l">
              <a:lnSpc>
                <a:spcPct val="120000"/>
              </a:lnSpc>
              <a:spcBef>
                <a:spcPts val="0"/>
              </a:spcBef>
              <a:spcAft>
                <a:spcPts val="0"/>
              </a:spcAft>
              <a:defRPr sz="2100" b="0">
                <a:solidFill>
                  <a:srgbClr val="17323D"/>
                </a:solidFill>
                <a:latin typeface="Arial"/>
              </a:defRPr>
            </a:pPr>
            <a:r>
              <a:t>records</a:t>
            </a:r>
          </a:p>
          <a:p>
            <a:pPr algn="l">
              <a:lnSpc>
                <a:spcPct val="120000"/>
              </a:lnSpc>
              <a:spcBef>
                <a:spcPts val="0"/>
              </a:spcBef>
              <a:spcAft>
                <a:spcPts val="0"/>
              </a:spcAft>
              <a:defRPr sz="2100" b="0">
                <a:solidFill>
                  <a:srgbClr val="17323D"/>
                </a:solidFill>
                <a:latin typeface="Arial"/>
              </a:defRPr>
            </a:pPr>
            <a:r>
              <a:t>produce a faster run?</a:t>
            </a:r>
          </a:p>
        </p:txBody>
      </p:sp>
      <p:sp>
        <p:nvSpPr>
          <p:cNvPr id="27" name="Rounded Rectangle 26"/>
          <p:cNvSpPr/>
          <p:nvPr/>
        </p:nvSpPr>
        <p:spPr>
          <a:xfrm>
            <a:off x="809244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48471"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Heuristics</a:t>
            </a:r>
          </a:p>
        </p:txBody>
      </p:sp>
      <p:sp>
        <p:nvSpPr>
          <p:cNvPr id="29" name="Rectangle 28"/>
          <p:cNvSpPr/>
          <p:nvPr/>
        </p:nvSpPr>
        <p:spPr>
          <a:xfrm>
            <a:off x="8348471"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48471"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039" b="0">
                <a:solidFill>
                  <a:srgbClr val="17323D"/>
                </a:solidFill>
                <a:latin typeface="Arial"/>
              </a:defRPr>
            </a:pPr>
            <a:r>
              <a:t>Same grid, different h:</a:t>
            </a:r>
          </a:p>
          <a:p>
            <a:pPr algn="l">
              <a:lnSpc>
                <a:spcPct val="120000"/>
              </a:lnSpc>
              <a:spcBef>
                <a:spcPts val="0"/>
              </a:spcBef>
              <a:spcAft>
                <a:spcPts val="0"/>
              </a:spcAft>
              <a:defRPr sz="2039" b="0">
                <a:solidFill>
                  <a:srgbClr val="17323D"/>
                </a:solidFill>
                <a:latin typeface="Arial"/>
              </a:defRPr>
            </a:pPr>
            <a:r>
              <a:t>what changes when</a:t>
            </a:r>
          </a:p>
          <a:p>
            <a:pPr algn="l">
              <a:lnSpc>
                <a:spcPct val="120000"/>
              </a:lnSpc>
              <a:spcBef>
                <a:spcPts val="0"/>
              </a:spcBef>
              <a:spcAft>
                <a:spcPts val="0"/>
              </a:spcAft>
              <a:defRPr sz="2039" b="0">
                <a:solidFill>
                  <a:srgbClr val="17323D"/>
                </a:solidFill>
                <a:latin typeface="Arial"/>
              </a:defRPr>
            </a:pPr>
            <a:r>
              <a:t>walls</a:t>
            </a:r>
          </a:p>
          <a:p>
            <a:pPr algn="l">
              <a:lnSpc>
                <a:spcPct val="120000"/>
              </a:lnSpc>
              <a:spcBef>
                <a:spcPts val="0"/>
              </a:spcBef>
              <a:spcAft>
                <a:spcPts val="0"/>
              </a:spcAft>
              <a:defRPr sz="2039" b="0">
                <a:solidFill>
                  <a:srgbClr val="17323D"/>
                </a:solidFill>
                <a:latin typeface="Arial"/>
              </a:defRPr>
            </a:pPr>
            <a:r>
              <a:t>or movement rules</a:t>
            </a:r>
          </a:p>
          <a:p>
            <a:pPr algn="l">
              <a:lnSpc>
                <a:spcPct val="120000"/>
              </a:lnSpc>
              <a:spcBef>
                <a:spcPts val="0"/>
              </a:spcBef>
              <a:spcAft>
                <a:spcPts val="0"/>
              </a:spcAft>
              <a:defRPr sz="2039" b="0">
                <a:solidFill>
                  <a:srgbClr val="17323D"/>
                </a:solidFill>
                <a:latin typeface="Arial"/>
              </a:defRPr>
            </a:pPr>
            <a:r>
              <a:t>change?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EXIT / EXPLAIN WITHOUT THE PSEUDOCODE</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86-90 min</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What justifies an irreversible decision?</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Enumerate → discard dominated prefixes → prove finalization → inform → test.</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25</a:t>
            </a:r>
          </a:p>
        </p:txBody>
      </p:sp>
      <p:sp>
        <p:nvSpPr>
          <p:cNvPr id="19" name="TextBox 18"/>
          <p:cNvSpPr txBox="1"/>
          <p:nvPr/>
        </p:nvSpPr>
        <p:spPr>
          <a:xfrm>
            <a:off x="713232" y="1993392"/>
            <a:ext cx="621792" cy="594360"/>
          </a:xfrm>
          <a:prstGeom prst="rect">
            <a:avLst/>
          </a:prstGeom>
          <a:noFill/>
        </p:spPr>
        <p:txBody>
          <a:bodyPr wrap="none" lIns="0" rIns="0" tIns="0" bIns="0" anchor="t">
            <a:spAutoFit/>
          </a:bodyPr>
          <a:lstStyle/>
          <a:p>
            <a:pPr algn="l">
              <a:lnSpc>
                <a:spcPct val="120000"/>
              </a:lnSpc>
              <a:spcBef>
                <a:spcPts val="0"/>
              </a:spcBef>
              <a:spcAft>
                <a:spcPts val="0"/>
              </a:spcAft>
              <a:defRPr sz="2500" b="1">
                <a:solidFill>
                  <a:srgbClr val="087E79"/>
                </a:solidFill>
                <a:latin typeface="Arial"/>
              </a:defRPr>
            </a:pPr>
            <a:r>
              <a:t>01</a:t>
            </a:r>
          </a:p>
        </p:txBody>
      </p:sp>
      <p:sp>
        <p:nvSpPr>
          <p:cNvPr id="20" name="TextBox 19"/>
          <p:cNvSpPr txBox="1"/>
          <p:nvPr/>
        </p:nvSpPr>
        <p:spPr>
          <a:xfrm>
            <a:off x="1600200" y="1993392"/>
            <a:ext cx="9509760" cy="868680"/>
          </a:xfrm>
          <a:prstGeom prst="rect">
            <a:avLst/>
          </a:prstGeom>
          <a:noFill/>
        </p:spPr>
        <p:txBody>
          <a:bodyPr wrap="none" lIns="0" rIns="0" tIns="0" bIns="0" anchor="t">
            <a:spAutoFit/>
          </a:bodyPr>
          <a:lstStyle/>
          <a:p>
            <a:pPr algn="l">
              <a:lnSpc>
                <a:spcPct val="120000"/>
              </a:lnSpc>
              <a:spcBef>
                <a:spcPts val="0"/>
              </a:spcBef>
              <a:spcAft>
                <a:spcPts val="0"/>
              </a:spcAft>
              <a:defRPr sz="2600" b="0">
                <a:solidFill>
                  <a:srgbClr val="17323D"/>
                </a:solidFill>
                <a:latin typeface="Arial"/>
              </a:defRPr>
            </a:pPr>
            <a:r>
              <a:t>Why is discovering the goal not enough?</a:t>
            </a:r>
          </a:p>
        </p:txBody>
      </p:sp>
      <p:sp>
        <p:nvSpPr>
          <p:cNvPr id="21" name="TextBox 20"/>
          <p:cNvSpPr txBox="1"/>
          <p:nvPr/>
        </p:nvSpPr>
        <p:spPr>
          <a:xfrm>
            <a:off x="713232" y="3209544"/>
            <a:ext cx="621792" cy="594360"/>
          </a:xfrm>
          <a:prstGeom prst="rect">
            <a:avLst/>
          </a:prstGeom>
          <a:noFill/>
        </p:spPr>
        <p:txBody>
          <a:bodyPr wrap="none" lIns="0" rIns="0" tIns="0" bIns="0" anchor="t">
            <a:spAutoFit/>
          </a:bodyPr>
          <a:lstStyle/>
          <a:p>
            <a:pPr algn="l">
              <a:lnSpc>
                <a:spcPct val="120000"/>
              </a:lnSpc>
              <a:spcBef>
                <a:spcPts val="0"/>
              </a:spcBef>
              <a:spcAft>
                <a:spcPts val="0"/>
              </a:spcAft>
              <a:defRPr sz="2500" b="1">
                <a:solidFill>
                  <a:srgbClr val="087E79"/>
                </a:solidFill>
                <a:latin typeface="Arial"/>
              </a:defRPr>
            </a:pPr>
            <a:r>
              <a:t>02</a:t>
            </a:r>
          </a:p>
        </p:txBody>
      </p:sp>
      <p:sp>
        <p:nvSpPr>
          <p:cNvPr id="22" name="TextBox 21"/>
          <p:cNvSpPr txBox="1"/>
          <p:nvPr/>
        </p:nvSpPr>
        <p:spPr>
          <a:xfrm>
            <a:off x="1600200" y="3209544"/>
            <a:ext cx="9509760" cy="868680"/>
          </a:xfrm>
          <a:prstGeom prst="rect">
            <a:avLst/>
          </a:prstGeom>
          <a:noFill/>
        </p:spPr>
        <p:txBody>
          <a:bodyPr wrap="none" lIns="0" rIns="0" tIns="0" bIns="0" anchor="t">
            <a:spAutoFit/>
          </a:bodyPr>
          <a:lstStyle/>
          <a:p>
            <a:pPr algn="l">
              <a:lnSpc>
                <a:spcPct val="120000"/>
              </a:lnSpc>
              <a:spcBef>
                <a:spcPts val="0"/>
              </a:spcBef>
              <a:spcAft>
                <a:spcPts val="0"/>
              </a:spcAft>
              <a:defRPr sz="2600" b="0">
                <a:solidFill>
                  <a:srgbClr val="17323D"/>
                </a:solidFill>
                <a:latin typeface="Arial"/>
              </a:defRPr>
            </a:pPr>
            <a:r>
              <a:t>When may an expanded state be closed permanently?</a:t>
            </a:r>
          </a:p>
        </p:txBody>
      </p:sp>
      <p:sp>
        <p:nvSpPr>
          <p:cNvPr id="23" name="TextBox 22"/>
          <p:cNvSpPr txBox="1"/>
          <p:nvPr/>
        </p:nvSpPr>
        <p:spPr>
          <a:xfrm>
            <a:off x="713232" y="4425696"/>
            <a:ext cx="621792" cy="594360"/>
          </a:xfrm>
          <a:prstGeom prst="rect">
            <a:avLst/>
          </a:prstGeom>
          <a:noFill/>
        </p:spPr>
        <p:txBody>
          <a:bodyPr wrap="none" lIns="0" rIns="0" tIns="0" bIns="0" anchor="t">
            <a:spAutoFit/>
          </a:bodyPr>
          <a:lstStyle/>
          <a:p>
            <a:pPr algn="l">
              <a:lnSpc>
                <a:spcPct val="120000"/>
              </a:lnSpc>
              <a:spcBef>
                <a:spcPts val="0"/>
              </a:spcBef>
              <a:spcAft>
                <a:spcPts val="0"/>
              </a:spcAft>
              <a:defRPr sz="2500" b="1">
                <a:solidFill>
                  <a:srgbClr val="087E79"/>
                </a:solidFill>
                <a:latin typeface="Arial"/>
              </a:defRPr>
            </a:pPr>
            <a:r>
              <a:t>03</a:t>
            </a:r>
          </a:p>
        </p:txBody>
      </p:sp>
      <p:sp>
        <p:nvSpPr>
          <p:cNvPr id="24" name="TextBox 23"/>
          <p:cNvSpPr txBox="1"/>
          <p:nvPr/>
        </p:nvSpPr>
        <p:spPr>
          <a:xfrm>
            <a:off x="1600200" y="4425696"/>
            <a:ext cx="9509760" cy="868680"/>
          </a:xfrm>
          <a:prstGeom prst="rect">
            <a:avLst/>
          </a:prstGeom>
          <a:noFill/>
        </p:spPr>
        <p:txBody>
          <a:bodyPr wrap="none" lIns="0" rIns="0" tIns="0" bIns="0" anchor="t">
            <a:spAutoFit/>
          </a:bodyPr>
          <a:lstStyle/>
          <a:p>
            <a:pPr algn="l">
              <a:lnSpc>
                <a:spcPct val="120000"/>
              </a:lnSpc>
              <a:spcBef>
                <a:spcPts val="0"/>
              </a:spcBef>
              <a:spcAft>
                <a:spcPts val="0"/>
              </a:spcAft>
              <a:defRPr sz="2600" b="0">
                <a:solidFill>
                  <a:srgbClr val="17323D"/>
                </a:solidFill>
                <a:latin typeface="Arial"/>
              </a:defRPr>
            </a:pPr>
            <a:r>
              <a:t>Why can we skip stale entries and still reopen states?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OPTIONAL / DIJKSTRA</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Appendix</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Appendix: the complete finalization proof</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The heap supplies the minimum candidate; the invariant supplies correctness.</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R1 · R4</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26</a:t>
            </a:r>
          </a:p>
        </p:txBody>
      </p:sp>
      <p:sp>
        <p:nvSpPr>
          <p:cNvPr id="19" name="Rounded Rectangle 18"/>
          <p:cNvSpPr/>
          <p:nvPr/>
        </p:nvSpPr>
        <p:spPr>
          <a:xfrm>
            <a:off x="594360" y="1856231"/>
            <a:ext cx="10991088" cy="1024128"/>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2066543"/>
            <a:ext cx="457200" cy="512064"/>
          </a:xfrm>
          <a:prstGeom prst="rect">
            <a:avLst/>
          </a:prstGeom>
          <a:noFill/>
        </p:spPr>
        <p:txBody>
          <a:bodyPr wrap="none" lIns="0" rIns="0" tIns="0" bIns="0" anchor="t">
            <a:spAutoFit/>
          </a:bodyPr>
          <a:lstStyle/>
          <a:p>
            <a:pPr algn="l">
              <a:lnSpc>
                <a:spcPct val="120000"/>
              </a:lnSpc>
              <a:spcBef>
                <a:spcPts val="0"/>
              </a:spcBef>
              <a:spcAft>
                <a:spcPts val="0"/>
              </a:spcAft>
              <a:defRPr sz="2800" b="1">
                <a:solidFill>
                  <a:srgbClr val="087E79"/>
                </a:solidFill>
                <a:latin typeface="Arial"/>
              </a:defRPr>
            </a:pPr>
            <a:r>
              <a:t>1</a:t>
            </a:r>
          </a:p>
        </p:txBody>
      </p:sp>
      <p:sp>
        <p:nvSpPr>
          <p:cNvPr id="21" name="TextBox 20"/>
          <p:cNvSpPr txBox="1"/>
          <p:nvPr/>
        </p:nvSpPr>
        <p:spPr>
          <a:xfrm>
            <a:off x="1536192" y="2002536"/>
            <a:ext cx="1920240" cy="694944"/>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Induction</a:t>
            </a:r>
          </a:p>
        </p:txBody>
      </p:sp>
      <p:sp>
        <p:nvSpPr>
          <p:cNvPr id="22" name="TextBox 21"/>
          <p:cNvSpPr txBox="1"/>
          <p:nvPr/>
        </p:nvSpPr>
        <p:spPr>
          <a:xfrm>
            <a:off x="3575304" y="2020824"/>
            <a:ext cx="7589520" cy="722376"/>
          </a:xfrm>
          <a:prstGeom prst="rect">
            <a:avLst/>
          </a:prstGeom>
          <a:noFill/>
        </p:spPr>
        <p:txBody>
          <a:bodyPr wrap="none" lIns="0" rIns="0" tIns="0" bIns="0" anchor="t">
            <a:spAutoFit/>
          </a:bodyPr>
          <a:lstStyle/>
          <a:p>
            <a:pPr algn="l">
              <a:lnSpc>
                <a:spcPct val="120000"/>
              </a:lnSpc>
              <a:spcBef>
                <a:spcPts val="0"/>
              </a:spcBef>
              <a:spcAft>
                <a:spcPts val="0"/>
              </a:spcAft>
              <a:defRPr sz="2000" b="0">
                <a:solidFill>
                  <a:srgbClr val="17323D"/>
                </a:solidFill>
                <a:latin typeface="Arial"/>
              </a:defRPr>
            </a:pPr>
            <a:r>
              <a:t>Every node in S has dist(x)=delta(x). Choose minimum</a:t>
            </a:r>
          </a:p>
          <a:p>
            <a:pPr algn="l">
              <a:lnSpc>
                <a:spcPct val="120000"/>
              </a:lnSpc>
              <a:spcBef>
                <a:spcPts val="0"/>
              </a:spcBef>
              <a:spcAft>
                <a:spcPts val="0"/>
              </a:spcAft>
              <a:defRPr sz="2000" b="0">
                <a:solidFill>
                  <a:srgbClr val="17323D"/>
                </a:solidFill>
                <a:latin typeface="Arial"/>
              </a:defRPr>
            </a:pPr>
            <a:r>
              <a:t>current u outside S.</a:t>
            </a:r>
          </a:p>
        </p:txBody>
      </p:sp>
      <p:sp>
        <p:nvSpPr>
          <p:cNvPr id="23" name="Rounded Rectangle 22"/>
          <p:cNvSpPr/>
          <p:nvPr/>
        </p:nvSpPr>
        <p:spPr>
          <a:xfrm>
            <a:off x="594360" y="3099815"/>
            <a:ext cx="10991088" cy="1024128"/>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3310127"/>
            <a:ext cx="457200" cy="512064"/>
          </a:xfrm>
          <a:prstGeom prst="rect">
            <a:avLst/>
          </a:prstGeom>
          <a:noFill/>
        </p:spPr>
        <p:txBody>
          <a:bodyPr wrap="none" lIns="0" rIns="0" tIns="0" bIns="0" anchor="t">
            <a:spAutoFit/>
          </a:bodyPr>
          <a:lstStyle/>
          <a:p>
            <a:pPr algn="l">
              <a:lnSpc>
                <a:spcPct val="120000"/>
              </a:lnSpc>
              <a:spcBef>
                <a:spcPts val="0"/>
              </a:spcBef>
              <a:spcAft>
                <a:spcPts val="0"/>
              </a:spcAft>
              <a:defRPr sz="2800" b="1">
                <a:solidFill>
                  <a:srgbClr val="087E79"/>
                </a:solidFill>
                <a:latin typeface="Arial"/>
              </a:defRPr>
            </a:pPr>
            <a:r>
              <a:t>2</a:t>
            </a:r>
          </a:p>
        </p:txBody>
      </p:sp>
      <p:sp>
        <p:nvSpPr>
          <p:cNvPr id="25" name="TextBox 24"/>
          <p:cNvSpPr txBox="1"/>
          <p:nvPr/>
        </p:nvSpPr>
        <p:spPr>
          <a:xfrm>
            <a:off x="1536192" y="3246120"/>
            <a:ext cx="1920240" cy="694944"/>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Crossing</a:t>
            </a:r>
          </a:p>
        </p:txBody>
      </p:sp>
      <p:sp>
        <p:nvSpPr>
          <p:cNvPr id="26" name="TextBox 25"/>
          <p:cNvSpPr txBox="1"/>
          <p:nvPr/>
        </p:nvSpPr>
        <p:spPr>
          <a:xfrm>
            <a:off x="3575304" y="3264408"/>
            <a:ext cx="7589520" cy="722376"/>
          </a:xfrm>
          <a:prstGeom prst="rect">
            <a:avLst/>
          </a:prstGeom>
          <a:noFill/>
        </p:spPr>
        <p:txBody>
          <a:bodyPr wrap="none" lIns="0" rIns="0" tIns="0" bIns="0" anchor="t">
            <a:spAutoFit/>
          </a:bodyPr>
          <a:lstStyle/>
          <a:p>
            <a:pPr algn="l">
              <a:lnSpc>
                <a:spcPct val="120000"/>
              </a:lnSpc>
              <a:spcBef>
                <a:spcPts val="0"/>
              </a:spcBef>
              <a:spcAft>
                <a:spcPts val="0"/>
              </a:spcAft>
              <a:defRPr sz="1909" b="0">
                <a:solidFill>
                  <a:srgbClr val="17323D"/>
                </a:solidFill>
                <a:latin typeface="Arial"/>
              </a:defRPr>
            </a:pPr>
            <a:r>
              <a:t>On an optimal route to u, let y be the first node outside S and</a:t>
            </a:r>
          </a:p>
          <a:p>
            <a:pPr algn="l">
              <a:lnSpc>
                <a:spcPct val="120000"/>
              </a:lnSpc>
              <a:spcBef>
                <a:spcPts val="0"/>
              </a:spcBef>
              <a:spcAft>
                <a:spcPts val="0"/>
              </a:spcAft>
              <a:defRPr sz="1909" b="0">
                <a:solidFill>
                  <a:srgbClr val="17323D"/>
                </a:solidFill>
                <a:latin typeface="Arial"/>
              </a:defRPr>
            </a:pPr>
            <a:r>
              <a:t>x its predecessor. Relaxation from x gives dist(y)=delta(y).</a:t>
            </a:r>
          </a:p>
        </p:txBody>
      </p:sp>
      <p:sp>
        <p:nvSpPr>
          <p:cNvPr id="27" name="Rounded Rectangle 26"/>
          <p:cNvSpPr/>
          <p:nvPr/>
        </p:nvSpPr>
        <p:spPr>
          <a:xfrm>
            <a:off x="594360" y="4343400"/>
            <a:ext cx="10991088" cy="1024128"/>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 y="4553712"/>
            <a:ext cx="457200" cy="512064"/>
          </a:xfrm>
          <a:prstGeom prst="rect">
            <a:avLst/>
          </a:prstGeom>
          <a:noFill/>
        </p:spPr>
        <p:txBody>
          <a:bodyPr wrap="none" lIns="0" rIns="0" tIns="0" bIns="0" anchor="t">
            <a:spAutoFit/>
          </a:bodyPr>
          <a:lstStyle/>
          <a:p>
            <a:pPr algn="l">
              <a:lnSpc>
                <a:spcPct val="120000"/>
              </a:lnSpc>
              <a:spcBef>
                <a:spcPts val="0"/>
              </a:spcBef>
              <a:spcAft>
                <a:spcPts val="0"/>
              </a:spcAft>
              <a:defRPr sz="2800" b="1">
                <a:solidFill>
                  <a:srgbClr val="087E79"/>
                </a:solidFill>
                <a:latin typeface="Arial"/>
              </a:defRPr>
            </a:pPr>
            <a:r>
              <a:t>3</a:t>
            </a:r>
          </a:p>
        </p:txBody>
      </p:sp>
      <p:sp>
        <p:nvSpPr>
          <p:cNvPr id="29" name="TextBox 28"/>
          <p:cNvSpPr txBox="1"/>
          <p:nvPr/>
        </p:nvSpPr>
        <p:spPr>
          <a:xfrm>
            <a:off x="1536192" y="4489704"/>
            <a:ext cx="1920240" cy="694944"/>
          </a:xfrm>
          <a:prstGeom prst="rect">
            <a:avLst/>
          </a:prstGeom>
          <a:noFill/>
        </p:spPr>
        <p:txBody>
          <a:bodyPr wrap="none" lIns="0" rIns="0" tIns="0" bIns="0" anchor="t">
            <a:spAutoFit/>
          </a:bodyPr>
          <a:lstStyle/>
          <a:p>
            <a:pPr algn="l">
              <a:lnSpc>
                <a:spcPct val="120000"/>
              </a:lnSpc>
              <a:spcBef>
                <a:spcPts val="0"/>
              </a:spcBef>
              <a:spcAft>
                <a:spcPts val="0"/>
              </a:spcAft>
              <a:defRPr sz="1959" b="1">
                <a:solidFill>
                  <a:srgbClr val="17323D"/>
                </a:solidFill>
                <a:latin typeface="Arial"/>
              </a:defRPr>
            </a:pPr>
            <a:r>
              <a:t>Contradiction</a:t>
            </a:r>
          </a:p>
        </p:txBody>
      </p:sp>
      <p:sp>
        <p:nvSpPr>
          <p:cNvPr id="30" name="TextBox 29"/>
          <p:cNvSpPr txBox="1"/>
          <p:nvPr/>
        </p:nvSpPr>
        <p:spPr>
          <a:xfrm>
            <a:off x="3575304" y="4507992"/>
            <a:ext cx="7589520" cy="722376"/>
          </a:xfrm>
          <a:prstGeom prst="rect">
            <a:avLst/>
          </a:prstGeom>
          <a:noFill/>
        </p:spPr>
        <p:txBody>
          <a:bodyPr wrap="none" lIns="0" rIns="0" tIns="0" bIns="0" anchor="t">
            <a:spAutoFit/>
          </a:bodyPr>
          <a:lstStyle/>
          <a:p>
            <a:pPr algn="l">
              <a:lnSpc>
                <a:spcPct val="120000"/>
              </a:lnSpc>
              <a:spcBef>
                <a:spcPts val="0"/>
              </a:spcBef>
              <a:spcAft>
                <a:spcPts val="0"/>
              </a:spcAft>
              <a:defRPr sz="1609" b="0">
                <a:solidFill>
                  <a:srgbClr val="17323D"/>
                </a:solidFill>
                <a:latin typeface="Arial"/>
              </a:defRPr>
            </a:pPr>
            <a:r>
              <a:t>Nonnegative suffix: delta(y)≤delta(u). Minimum selection: dist(u)≤dist(y).</a:t>
            </a:r>
          </a:p>
          <a:p>
            <a:pPr algn="l">
              <a:lnSpc>
                <a:spcPct val="120000"/>
              </a:lnSpc>
              <a:spcBef>
                <a:spcPts val="0"/>
              </a:spcBef>
              <a:spcAft>
                <a:spcPts val="0"/>
              </a:spcAft>
              <a:defRPr sz="1609" b="0">
                <a:solidFill>
                  <a:srgbClr val="17323D"/>
                </a:solidFill>
                <a:latin typeface="Arial"/>
              </a:defRPr>
            </a:pPr>
            <a:r>
              <a:t>Thus dist(u)≤delta(u), while every label is a real route cost.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OPTIONAL / POTENTIAL REWEIGHTING</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Appendix</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Appendix: the same failure in another graph</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An inconsistent heuristic can create negative reweighted edges.</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R4</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27</a:t>
            </a:r>
          </a:p>
        </p:txBody>
      </p:sp>
      <p:sp>
        <p:nvSpPr>
          <p:cNvPr id="19" name="Rounded Rectangle 18"/>
          <p:cNvSpPr/>
          <p:nvPr/>
        </p:nvSpPr>
        <p:spPr>
          <a:xfrm>
            <a:off x="594360" y="1801368"/>
            <a:ext cx="6967728" cy="3858768"/>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eweighted_graph.png"/>
          <p:cNvPicPr>
            <a:picLocks noChangeAspect="1"/>
          </p:cNvPicPr>
          <p:nvPr/>
        </p:nvPicPr>
        <p:blipFill>
          <a:blip r:embed="rId2"/>
          <a:stretch>
            <a:fillRect/>
          </a:stretch>
        </p:blipFill>
        <p:spPr>
          <a:xfrm>
            <a:off x="833862" y="1865376"/>
            <a:ext cx="6488723" cy="3749039"/>
          </a:xfrm>
          <a:prstGeom prst="rect">
            <a:avLst/>
          </a:prstGeom>
        </p:spPr>
      </p:pic>
      <p:sp>
        <p:nvSpPr>
          <p:cNvPr id="21" name="TextBox 20"/>
          <p:cNvSpPr txBox="1"/>
          <p:nvPr/>
        </p:nvSpPr>
        <p:spPr>
          <a:xfrm>
            <a:off x="7909560" y="2121408"/>
            <a:ext cx="3566160" cy="777240"/>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c_h = c + h(v) - h(u)</a:t>
            </a:r>
          </a:p>
        </p:txBody>
      </p:sp>
      <p:sp>
        <p:nvSpPr>
          <p:cNvPr id="22" name="Rectangle 21"/>
          <p:cNvSpPr/>
          <p:nvPr/>
        </p:nvSpPr>
        <p:spPr>
          <a:xfrm>
            <a:off x="7909560" y="2898648"/>
            <a:ext cx="502920" cy="41148"/>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9560" y="3182112"/>
            <a:ext cx="3566160" cy="2331720"/>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S → B becomes 5.</a:t>
            </a:r>
          </a:p>
          <a:p>
            <a:pPr algn="l">
              <a:lnSpc>
                <a:spcPct val="120000"/>
              </a:lnSpc>
              <a:spcBef>
                <a:spcPts val="0"/>
              </a:spcBef>
              <a:spcAft>
                <a:spcPts val="0"/>
              </a:spcAft>
              <a:defRPr sz="2200" b="0">
                <a:solidFill>
                  <a:srgbClr val="17323D"/>
                </a:solidFill>
                <a:latin typeface="Arial"/>
              </a:defRPr>
            </a:pPr>
            <a:r>
              <a:t>B → A becomes -3.</a:t>
            </a:r>
          </a:p>
          <a:p>
            <a:pPr algn="l">
              <a:lnSpc>
                <a:spcPct val="120000"/>
              </a:lnSpc>
              <a:spcBef>
                <a:spcPts val="0"/>
              </a:spcBef>
              <a:spcAft>
                <a:spcPts val="0"/>
              </a:spcAft>
              <a:defRPr sz="2200" b="0">
                <a:solidFill>
                  <a:srgbClr val="17323D"/>
                </a:solidFill>
                <a:latin typeface="Arial"/>
              </a:defRPr>
            </a:pPr>
          </a:p>
          <a:p>
            <a:pPr algn="l">
              <a:lnSpc>
                <a:spcPct val="120000"/>
              </a:lnSpc>
              <a:spcBef>
                <a:spcPts val="0"/>
              </a:spcBef>
              <a:spcAft>
                <a:spcPts val="0"/>
              </a:spcAft>
              <a:defRPr sz="2200" b="0">
                <a:solidFill>
                  <a:srgbClr val="17323D"/>
                </a:solidFill>
                <a:latin typeface="Arial"/>
              </a:defRPr>
            </a:pPr>
            <a:r>
              <a:t>All fixed-endpoint routes</a:t>
            </a:r>
          </a:p>
          <a:p>
            <a:pPr algn="l">
              <a:lnSpc>
                <a:spcPct val="120000"/>
              </a:lnSpc>
              <a:spcBef>
                <a:spcPts val="0"/>
              </a:spcBef>
              <a:spcAft>
                <a:spcPts val="0"/>
              </a:spcAft>
              <a:defRPr sz="2200" b="0">
                <a:solidFill>
                  <a:srgbClr val="17323D"/>
                </a:solidFill>
                <a:latin typeface="Arial"/>
              </a:defRPr>
            </a:pPr>
            <a:r>
              <a:t>shift by one constant.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OPTIONAL / ENUMERATION</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Appendix</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Appendix: count paths, not just vertices.</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For complete directed graphs: sum over k=0,...,n-2 of (n-2)! / (n-2-k)! .</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R5</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28</a:t>
            </a:r>
          </a:p>
        </p:txBody>
      </p:sp>
      <p:sp>
        <p:nvSpPr>
          <p:cNvPr id="19" name="Rectangle 18"/>
          <p:cNvSpPr/>
          <p:nvPr/>
        </p:nvSpPr>
        <p:spPr>
          <a:xfrm>
            <a:off x="1280160" y="1920240"/>
            <a:ext cx="2880360" cy="640080"/>
          </a:xfrm>
          <a:prstGeom prst="rect">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99031" y="2039112"/>
            <a:ext cx="2642615" cy="475488"/>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FFFEFB"/>
                </a:solidFill>
                <a:latin typeface="Arial"/>
              </a:defRPr>
            </a:pPr>
            <a:r>
              <a:t>Vertices n</a:t>
            </a:r>
          </a:p>
        </p:txBody>
      </p:sp>
      <p:sp>
        <p:nvSpPr>
          <p:cNvPr id="21" name="Rectangle 20"/>
          <p:cNvSpPr/>
          <p:nvPr/>
        </p:nvSpPr>
        <p:spPr>
          <a:xfrm>
            <a:off x="4160520" y="1920240"/>
            <a:ext cx="6720840" cy="640080"/>
          </a:xfrm>
          <a:prstGeom prst="rect">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79392" y="2039112"/>
            <a:ext cx="6483096" cy="475488"/>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FFFEFB"/>
                </a:solidFill>
                <a:latin typeface="Arial"/>
              </a:defRPr>
            </a:pPr>
            <a:r>
              <a:t>Complete simple s-to-t paths</a:t>
            </a:r>
          </a:p>
        </p:txBody>
      </p:sp>
      <p:sp>
        <p:nvSpPr>
          <p:cNvPr id="23" name="Rectangle 22"/>
          <p:cNvSpPr/>
          <p:nvPr/>
        </p:nvSpPr>
        <p:spPr>
          <a:xfrm>
            <a:off x="1280160" y="2560320"/>
            <a:ext cx="2880360" cy="64008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99031" y="2679191"/>
            <a:ext cx="2642615" cy="475488"/>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5</a:t>
            </a:r>
          </a:p>
        </p:txBody>
      </p:sp>
      <p:sp>
        <p:nvSpPr>
          <p:cNvPr id="25" name="Rectangle 24"/>
          <p:cNvSpPr/>
          <p:nvPr/>
        </p:nvSpPr>
        <p:spPr>
          <a:xfrm>
            <a:off x="4160520" y="2560320"/>
            <a:ext cx="6720840" cy="64008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79392" y="2679191"/>
            <a:ext cx="6483096" cy="475488"/>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16</a:t>
            </a:r>
          </a:p>
        </p:txBody>
      </p:sp>
      <p:sp>
        <p:nvSpPr>
          <p:cNvPr id="27" name="Rectangle 26"/>
          <p:cNvSpPr/>
          <p:nvPr/>
        </p:nvSpPr>
        <p:spPr>
          <a:xfrm>
            <a:off x="1280160" y="3200400"/>
            <a:ext cx="2880360" cy="640080"/>
          </a:xfrm>
          <a:prstGeom prst="rect">
            <a:avLst/>
          </a:prstGeom>
          <a:solidFill>
            <a:srgbClr val="EA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99031" y="3319272"/>
            <a:ext cx="2642615" cy="475488"/>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7</a:t>
            </a:r>
          </a:p>
        </p:txBody>
      </p:sp>
      <p:sp>
        <p:nvSpPr>
          <p:cNvPr id="29" name="Rectangle 28"/>
          <p:cNvSpPr/>
          <p:nvPr/>
        </p:nvSpPr>
        <p:spPr>
          <a:xfrm>
            <a:off x="4160520" y="3200400"/>
            <a:ext cx="6720840" cy="640080"/>
          </a:xfrm>
          <a:prstGeom prst="rect">
            <a:avLst/>
          </a:prstGeom>
          <a:solidFill>
            <a:srgbClr val="EA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9392" y="3319272"/>
            <a:ext cx="6483096" cy="475488"/>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326</a:t>
            </a:r>
          </a:p>
        </p:txBody>
      </p:sp>
      <p:sp>
        <p:nvSpPr>
          <p:cNvPr id="31" name="Rectangle 30"/>
          <p:cNvSpPr/>
          <p:nvPr/>
        </p:nvSpPr>
        <p:spPr>
          <a:xfrm>
            <a:off x="1280160" y="3840479"/>
            <a:ext cx="2880360" cy="64008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99031" y="3959351"/>
            <a:ext cx="2642615" cy="475488"/>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9</a:t>
            </a:r>
          </a:p>
        </p:txBody>
      </p:sp>
      <p:sp>
        <p:nvSpPr>
          <p:cNvPr id="33" name="Rectangle 32"/>
          <p:cNvSpPr/>
          <p:nvPr/>
        </p:nvSpPr>
        <p:spPr>
          <a:xfrm>
            <a:off x="4160520" y="3840479"/>
            <a:ext cx="6720840" cy="640080"/>
          </a:xfrm>
          <a:prstGeom prst="rect">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79392" y="3959351"/>
            <a:ext cx="6483096" cy="475488"/>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13,700</a:t>
            </a:r>
          </a:p>
        </p:txBody>
      </p:sp>
      <p:sp>
        <p:nvSpPr>
          <p:cNvPr id="35" name="Rectangle 34"/>
          <p:cNvSpPr/>
          <p:nvPr/>
        </p:nvSpPr>
        <p:spPr>
          <a:xfrm>
            <a:off x="1280160" y="4480560"/>
            <a:ext cx="2880360" cy="640080"/>
          </a:xfrm>
          <a:prstGeom prst="rect">
            <a:avLst/>
          </a:prstGeom>
          <a:solidFill>
            <a:srgbClr val="EA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99031" y="4599432"/>
            <a:ext cx="2642615" cy="475488"/>
          </a:xfrm>
          <a:prstGeom prst="rect">
            <a:avLst/>
          </a:prstGeom>
          <a:noFill/>
        </p:spPr>
        <p:txBody>
          <a:bodyPr wrap="none" lIns="0" rIns="0" tIns="0" bIns="0" anchor="t">
            <a:spAutoFit/>
          </a:bodyPr>
          <a:lstStyle/>
          <a:p>
            <a:pPr algn="l">
              <a:lnSpc>
                <a:spcPct val="120000"/>
              </a:lnSpc>
              <a:spcBef>
                <a:spcPts val="0"/>
              </a:spcBef>
              <a:spcAft>
                <a:spcPts val="0"/>
              </a:spcAft>
              <a:defRPr sz="2200" b="1">
                <a:solidFill>
                  <a:srgbClr val="17323D"/>
                </a:solidFill>
                <a:latin typeface="Arial"/>
              </a:defRPr>
            </a:pPr>
            <a:r>
              <a:t>11</a:t>
            </a:r>
          </a:p>
        </p:txBody>
      </p:sp>
      <p:sp>
        <p:nvSpPr>
          <p:cNvPr id="37" name="Rectangle 36"/>
          <p:cNvSpPr/>
          <p:nvPr/>
        </p:nvSpPr>
        <p:spPr>
          <a:xfrm>
            <a:off x="4160520" y="4480560"/>
            <a:ext cx="6720840" cy="640080"/>
          </a:xfrm>
          <a:prstGeom prst="rect">
            <a:avLst/>
          </a:prstGeom>
          <a:solidFill>
            <a:srgbClr val="EA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79392" y="4599432"/>
            <a:ext cx="6483096" cy="475488"/>
          </a:xfrm>
          <a:prstGeom prst="rect">
            <a:avLst/>
          </a:prstGeom>
          <a:noFill/>
        </p:spPr>
        <p:txBody>
          <a:bodyPr wrap="none" lIns="0" rIns="0" tIns="0" bIns="0" anchor="t">
            <a:spAutoFit/>
          </a:bodyPr>
          <a:lstStyle/>
          <a:p>
            <a:pPr algn="l">
              <a:lnSpc>
                <a:spcPct val="120000"/>
              </a:lnSpc>
              <a:spcBef>
                <a:spcPts val="0"/>
              </a:spcBef>
              <a:spcAft>
                <a:spcPts val="0"/>
              </a:spcAft>
              <a:defRPr sz="2200" b="0">
                <a:solidFill>
                  <a:srgbClr val="17323D"/>
                </a:solidFill>
                <a:latin typeface="Arial"/>
              </a:defRPr>
            </a:pPr>
            <a:r>
              <a:t>986,410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OPTIONAL / PRIORITY QUEUES</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Appendix</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Appendix: a heap is a design choice.</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There is no universal graph-size threshold at which the most intricate heap wins.</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R7 · R8</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29</a:t>
            </a:r>
          </a:p>
        </p:txBody>
      </p:sp>
      <p:sp>
        <p:nvSpPr>
          <p:cNvPr id="19" name="Rounded Rectangle 18"/>
          <p:cNvSpPr/>
          <p:nvPr/>
        </p:nvSpPr>
        <p:spPr>
          <a:xfrm>
            <a:off x="59436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Binary</a:t>
            </a:r>
          </a:p>
        </p:txBody>
      </p:sp>
      <p:sp>
        <p:nvSpPr>
          <p:cNvPr id="21" name="Rectangle 20"/>
          <p:cNvSpPr/>
          <p:nvPr/>
        </p:nvSpPr>
        <p:spPr>
          <a:xfrm>
            <a:off x="850392"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O(log n) inserts,</a:t>
            </a:r>
          </a:p>
          <a:p>
            <a:pPr algn="l">
              <a:lnSpc>
                <a:spcPct val="120000"/>
              </a:lnSpc>
              <a:spcBef>
                <a:spcPts val="0"/>
              </a:spcBef>
              <a:spcAft>
                <a:spcPts val="0"/>
              </a:spcAft>
              <a:defRPr sz="2100" b="0">
                <a:solidFill>
                  <a:srgbClr val="17323D"/>
                </a:solidFill>
                <a:latin typeface="Arial"/>
              </a:defRPr>
            </a:pPr>
            <a:r>
              <a:t>decreases and</a:t>
            </a:r>
          </a:p>
          <a:p>
            <a:pPr algn="l">
              <a:lnSpc>
                <a:spcPct val="120000"/>
              </a:lnSpc>
              <a:spcBef>
                <a:spcPts val="0"/>
              </a:spcBef>
              <a:spcAft>
                <a:spcPts val="0"/>
              </a:spcAft>
              <a:defRPr sz="2100" b="0">
                <a:solidFill>
                  <a:srgbClr val="17323D"/>
                </a:solidFill>
                <a:latin typeface="Arial"/>
              </a:defRPr>
            </a:pPr>
            <a:r>
              <a:t>extracts</a:t>
            </a:r>
          </a:p>
          <a:p>
            <a:pPr algn="l">
              <a:lnSpc>
                <a:spcPct val="120000"/>
              </a:lnSpc>
              <a:spcBef>
                <a:spcPts val="0"/>
              </a:spcBef>
              <a:spcAft>
                <a:spcPts val="0"/>
              </a:spcAft>
              <a:defRPr sz="2100" b="0">
                <a:solidFill>
                  <a:srgbClr val="17323D"/>
                </a:solidFill>
                <a:latin typeface="Arial"/>
              </a:defRPr>
            </a:pPr>
            <a:r>
              <a:t>with an indexed</a:t>
            </a:r>
          </a:p>
          <a:p>
            <a:pPr algn="l">
              <a:lnSpc>
                <a:spcPct val="120000"/>
              </a:lnSpc>
              <a:spcBef>
                <a:spcPts val="0"/>
              </a:spcBef>
              <a:spcAft>
                <a:spcPts val="0"/>
              </a:spcAft>
              <a:defRPr sz="2100" b="0">
                <a:solidFill>
                  <a:srgbClr val="17323D"/>
                </a:solidFill>
                <a:latin typeface="Arial"/>
              </a:defRPr>
            </a:pPr>
            <a:r>
              <a:t>heap.</a:t>
            </a:r>
          </a:p>
        </p:txBody>
      </p:sp>
      <p:sp>
        <p:nvSpPr>
          <p:cNvPr id="23" name="Rounded Rectangle 22"/>
          <p:cNvSpPr/>
          <p:nvPr/>
        </p:nvSpPr>
        <p:spPr>
          <a:xfrm>
            <a:off x="434340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2"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d-ary</a:t>
            </a:r>
          </a:p>
        </p:txBody>
      </p:sp>
      <p:sp>
        <p:nvSpPr>
          <p:cNvPr id="25" name="Rectangle 24"/>
          <p:cNvSpPr/>
          <p:nvPr/>
        </p:nvSpPr>
        <p:spPr>
          <a:xfrm>
            <a:off x="4599432"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9432"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Lower height, but</a:t>
            </a:r>
          </a:p>
          <a:p>
            <a:pPr algn="l">
              <a:lnSpc>
                <a:spcPct val="120000"/>
              </a:lnSpc>
              <a:spcBef>
                <a:spcPts val="0"/>
              </a:spcBef>
              <a:spcAft>
                <a:spcPts val="0"/>
              </a:spcAft>
              <a:defRPr sz="2100" b="0">
                <a:solidFill>
                  <a:srgbClr val="17323D"/>
                </a:solidFill>
                <a:latin typeface="Arial"/>
              </a:defRPr>
            </a:pPr>
            <a:r>
              <a:t>more children to</a:t>
            </a:r>
          </a:p>
          <a:p>
            <a:pPr algn="l">
              <a:lnSpc>
                <a:spcPct val="120000"/>
              </a:lnSpc>
              <a:spcBef>
                <a:spcPts val="0"/>
              </a:spcBef>
              <a:spcAft>
                <a:spcPts val="0"/>
              </a:spcAft>
              <a:defRPr sz="2100" b="0">
                <a:solidFill>
                  <a:srgbClr val="17323D"/>
                </a:solidFill>
                <a:latin typeface="Arial"/>
              </a:defRPr>
            </a:pPr>
            <a:r>
              <a:t>compare</a:t>
            </a:r>
          </a:p>
          <a:p>
            <a:pPr algn="l">
              <a:lnSpc>
                <a:spcPct val="120000"/>
              </a:lnSpc>
              <a:spcBef>
                <a:spcPts val="0"/>
              </a:spcBef>
              <a:spcAft>
                <a:spcPts val="0"/>
              </a:spcAft>
              <a:defRPr sz="2100" b="0">
                <a:solidFill>
                  <a:srgbClr val="17323D"/>
                </a:solidFill>
                <a:latin typeface="Arial"/>
              </a:defRPr>
            </a:pPr>
            <a:r>
              <a:t>on extraction.</a:t>
            </a:r>
          </a:p>
        </p:txBody>
      </p:sp>
      <p:sp>
        <p:nvSpPr>
          <p:cNvPr id="27" name="Rounded Rectangle 26"/>
          <p:cNvSpPr/>
          <p:nvPr/>
        </p:nvSpPr>
        <p:spPr>
          <a:xfrm>
            <a:off x="809244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48471"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Fibonacci</a:t>
            </a:r>
          </a:p>
        </p:txBody>
      </p:sp>
      <p:sp>
        <p:nvSpPr>
          <p:cNvPr id="29" name="Rectangle 28"/>
          <p:cNvSpPr/>
          <p:nvPr/>
        </p:nvSpPr>
        <p:spPr>
          <a:xfrm>
            <a:off x="8348471"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48471"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Amortized O(1)</a:t>
            </a:r>
          </a:p>
          <a:p>
            <a:pPr algn="l">
              <a:lnSpc>
                <a:spcPct val="120000"/>
              </a:lnSpc>
              <a:spcBef>
                <a:spcPts val="0"/>
              </a:spcBef>
              <a:spcAft>
                <a:spcPts val="0"/>
              </a:spcAft>
              <a:defRPr sz="2100" b="0">
                <a:solidFill>
                  <a:srgbClr val="17323D"/>
                </a:solidFill>
                <a:latin typeface="Arial"/>
              </a:defRPr>
            </a:pPr>
            <a:r>
              <a:t>decrease.</a:t>
            </a:r>
          </a:p>
          <a:p>
            <a:pPr algn="l">
              <a:lnSpc>
                <a:spcPct val="120000"/>
              </a:lnSpc>
              <a:spcBef>
                <a:spcPts val="0"/>
              </a:spcBef>
              <a:spcAft>
                <a:spcPts val="0"/>
              </a:spcAft>
              <a:defRPr sz="2100" b="0">
                <a:solidFill>
                  <a:srgbClr val="17323D"/>
                </a:solidFill>
                <a:latin typeface="Arial"/>
              </a:defRPr>
            </a:pPr>
            <a:r>
              <a:t>O(log n) extraction.</a:t>
            </a:r>
          </a:p>
          <a:p>
            <a:pPr algn="l">
              <a:lnSpc>
                <a:spcPct val="120000"/>
              </a:lnSpc>
              <a:spcBef>
                <a:spcPts val="0"/>
              </a:spcBef>
              <a:spcAft>
                <a:spcPts val="0"/>
              </a:spcAft>
              <a:defRPr sz="2100" b="0">
                <a:solidFill>
                  <a:srgbClr val="17323D"/>
                </a:solidFill>
                <a:latin typeface="Arial"/>
              </a:defRPr>
            </a:pPr>
            <a:r>
              <a:t>Classical SSSP:</a:t>
            </a:r>
          </a:p>
          <a:p>
            <a:pPr algn="l">
              <a:lnSpc>
                <a:spcPct val="120000"/>
              </a:lnSpc>
              <a:spcBef>
                <a:spcPts val="0"/>
              </a:spcBef>
              <a:spcAft>
                <a:spcPts val="0"/>
              </a:spcAft>
              <a:defRPr sz="2100" b="0">
                <a:solidFill>
                  <a:srgbClr val="17323D"/>
                </a:solidFill>
                <a:latin typeface="Arial"/>
              </a:defRPr>
            </a:pPr>
            <a:r>
              <a:t>O(m+n log 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OPTIONAL / RELAXATION</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Appendix</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Appendix: the movement model is part of h.</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A diagonally adjacent goal refutes Manhattan distance when a diagonal costs 1.</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INFORM</a:t>
            </a:r>
          </a:p>
        </p:txBody>
      </p:sp>
      <p:sp>
        <p:nvSpPr>
          <p:cNvPr id="15" name="Rectangle 14"/>
          <p:cNvSpPr/>
          <p:nvPr/>
        </p:nvSpPr>
        <p:spPr>
          <a:xfrm>
            <a:off x="681228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R3 · R4</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30</a:t>
            </a:r>
          </a:p>
        </p:txBody>
      </p:sp>
      <p:sp>
        <p:nvSpPr>
          <p:cNvPr id="19" name="Rounded Rectangle 18"/>
          <p:cNvSpPr/>
          <p:nvPr/>
        </p:nvSpPr>
        <p:spPr>
          <a:xfrm>
            <a:off x="59436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Four neighbors</a:t>
            </a:r>
          </a:p>
        </p:txBody>
      </p:sp>
      <p:sp>
        <p:nvSpPr>
          <p:cNvPr id="21" name="Rectangle 20"/>
          <p:cNvSpPr/>
          <p:nvPr/>
        </p:nvSpPr>
        <p:spPr>
          <a:xfrm>
            <a:off x="850392"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Unit cardinal moves.</a:t>
            </a:r>
          </a:p>
          <a:p>
            <a:pPr algn="l">
              <a:lnSpc>
                <a:spcPct val="120000"/>
              </a:lnSpc>
              <a:spcBef>
                <a:spcPts val="0"/>
              </a:spcBef>
              <a:spcAft>
                <a:spcPts val="0"/>
              </a:spcAft>
              <a:defRPr sz="2100" b="0">
                <a:solidFill>
                  <a:srgbClr val="17323D"/>
                </a:solidFill>
                <a:latin typeface="Arial"/>
              </a:defRPr>
            </a:pPr>
            <a:r>
              <a:t>Without walls:</a:t>
            </a:r>
          </a:p>
          <a:p>
            <a:pPr algn="l">
              <a:lnSpc>
                <a:spcPct val="120000"/>
              </a:lnSpc>
              <a:spcBef>
                <a:spcPts val="0"/>
              </a:spcBef>
              <a:spcAft>
                <a:spcPts val="0"/>
              </a:spcAft>
              <a:defRPr sz="2100" b="0">
                <a:solidFill>
                  <a:srgbClr val="17323D"/>
                </a:solidFill>
                <a:latin typeface="Arial"/>
              </a:defRPr>
            </a:pPr>
            <a:r>
              <a:t>|dx| + |dy|.</a:t>
            </a:r>
          </a:p>
        </p:txBody>
      </p:sp>
      <p:sp>
        <p:nvSpPr>
          <p:cNvPr id="23" name="Rounded Rectangle 22"/>
          <p:cNvSpPr/>
          <p:nvPr/>
        </p:nvSpPr>
        <p:spPr>
          <a:xfrm>
            <a:off x="434340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2"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Eight neighbors</a:t>
            </a:r>
          </a:p>
        </p:txBody>
      </p:sp>
      <p:sp>
        <p:nvSpPr>
          <p:cNvPr id="25" name="Rectangle 24"/>
          <p:cNvSpPr/>
          <p:nvPr/>
        </p:nvSpPr>
        <p:spPr>
          <a:xfrm>
            <a:off x="4599432"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9432"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All moves cost 1.</a:t>
            </a:r>
          </a:p>
          <a:p>
            <a:pPr algn="l">
              <a:lnSpc>
                <a:spcPct val="120000"/>
              </a:lnSpc>
              <a:spcBef>
                <a:spcPts val="0"/>
              </a:spcBef>
              <a:spcAft>
                <a:spcPts val="0"/>
              </a:spcAft>
              <a:defRPr sz="2100" b="0">
                <a:solidFill>
                  <a:srgbClr val="17323D"/>
                </a:solidFill>
                <a:latin typeface="Arial"/>
              </a:defRPr>
            </a:pPr>
            <a:r>
              <a:t>Without walls:</a:t>
            </a:r>
          </a:p>
          <a:p>
            <a:pPr algn="l">
              <a:lnSpc>
                <a:spcPct val="120000"/>
              </a:lnSpc>
              <a:spcBef>
                <a:spcPts val="0"/>
              </a:spcBef>
              <a:spcAft>
                <a:spcPts val="0"/>
              </a:spcAft>
              <a:defRPr sz="2100" b="0">
                <a:solidFill>
                  <a:srgbClr val="17323D"/>
                </a:solidFill>
                <a:latin typeface="Arial"/>
              </a:defRPr>
            </a:pPr>
            <a:r>
              <a:t>max(|dx|, |dy|).</a:t>
            </a:r>
          </a:p>
        </p:txBody>
      </p:sp>
      <p:sp>
        <p:nvSpPr>
          <p:cNvPr id="27" name="Rounded Rectangle 26"/>
          <p:cNvSpPr/>
          <p:nvPr/>
        </p:nvSpPr>
        <p:spPr>
          <a:xfrm>
            <a:off x="8092440" y="1947672"/>
            <a:ext cx="3493008" cy="3456432"/>
          </a:xfrm>
          <a:prstGeom prst="roundRect">
            <a:avLst>
              <a:gd name="adj" fmla="val 6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48471" y="2212848"/>
            <a:ext cx="2962656" cy="502920"/>
          </a:xfrm>
          <a:prstGeom prst="rect">
            <a:avLst/>
          </a:prstGeom>
          <a:noFill/>
        </p:spPr>
        <p:txBody>
          <a:bodyPr wrap="none" lIns="0" rIns="0" tIns="0" bIns="0" anchor="t">
            <a:spAutoFit/>
          </a:bodyPr>
          <a:lstStyle/>
          <a:p>
            <a:pPr algn="l">
              <a:lnSpc>
                <a:spcPct val="120000"/>
              </a:lnSpc>
              <a:spcBef>
                <a:spcPts val="0"/>
              </a:spcBef>
              <a:spcAft>
                <a:spcPts val="0"/>
              </a:spcAft>
              <a:defRPr sz="2400" b="1">
                <a:solidFill>
                  <a:srgbClr val="17323D"/>
                </a:solidFill>
                <a:latin typeface="Arial"/>
              </a:defRPr>
            </a:pPr>
            <a:r>
              <a:t>Weighted moves</a:t>
            </a:r>
          </a:p>
        </p:txBody>
      </p:sp>
      <p:sp>
        <p:nvSpPr>
          <p:cNvPr id="29" name="Rectangle 28"/>
          <p:cNvSpPr/>
          <p:nvPr/>
        </p:nvSpPr>
        <p:spPr>
          <a:xfrm>
            <a:off x="8348471" y="2871216"/>
            <a:ext cx="438912" cy="36576"/>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48471" y="3154680"/>
            <a:ext cx="2962656" cy="1883664"/>
          </a:xfrm>
          <a:prstGeom prst="rect">
            <a:avLst/>
          </a:prstGeom>
          <a:noFill/>
        </p:spPr>
        <p:txBody>
          <a:bodyPr wrap="none" lIns="0" rIns="0" tIns="0" bIns="0" anchor="t">
            <a:spAutoFit/>
          </a:bodyPr>
          <a:lstStyle/>
          <a:p>
            <a:pPr algn="l">
              <a:lnSpc>
                <a:spcPct val="120000"/>
              </a:lnSpc>
              <a:spcBef>
                <a:spcPts val="0"/>
              </a:spcBef>
              <a:spcAft>
                <a:spcPts val="0"/>
              </a:spcAft>
              <a:defRPr sz="2100" b="0">
                <a:solidFill>
                  <a:srgbClr val="17323D"/>
                </a:solidFill>
                <a:latin typeface="Arial"/>
              </a:defRPr>
            </a:pPr>
            <a:r>
              <a:t>Use a proven lower</a:t>
            </a:r>
          </a:p>
          <a:p>
            <a:pPr algn="l">
              <a:lnSpc>
                <a:spcPct val="120000"/>
              </a:lnSpc>
              <a:spcBef>
                <a:spcPts val="0"/>
              </a:spcBef>
              <a:spcAft>
                <a:spcPts val="0"/>
              </a:spcAft>
              <a:defRPr sz="2100" b="0">
                <a:solidFill>
                  <a:srgbClr val="17323D"/>
                </a:solidFill>
                <a:latin typeface="Arial"/>
              </a:defRPr>
            </a:pPr>
            <a:r>
              <a:t>bound</a:t>
            </a:r>
          </a:p>
          <a:p>
            <a:pPr algn="l">
              <a:lnSpc>
                <a:spcPct val="120000"/>
              </a:lnSpc>
              <a:spcBef>
                <a:spcPts val="0"/>
              </a:spcBef>
              <a:spcAft>
                <a:spcPts val="0"/>
              </a:spcAft>
              <a:defRPr sz="2100" b="0">
                <a:solidFill>
                  <a:srgbClr val="17323D"/>
                </a:solidFill>
                <a:latin typeface="Arial"/>
              </a:defRPr>
            </a:pPr>
            <a:r>
              <a:t>with the correct units</a:t>
            </a:r>
          </a:p>
          <a:p>
            <a:pPr algn="l">
              <a:lnSpc>
                <a:spcPct val="120000"/>
              </a:lnSpc>
              <a:spcBef>
                <a:spcPts val="0"/>
              </a:spcBef>
              <a:spcAft>
                <a:spcPts val="0"/>
              </a:spcAft>
              <a:defRPr sz="2100" b="0">
                <a:solidFill>
                  <a:srgbClr val="17323D"/>
                </a:solidFill>
                <a:latin typeface="Arial"/>
              </a:defRPr>
            </a:pPr>
            <a:r>
              <a:t>and movement costs.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OPTIONAL / RESEARCH CONTEXT</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Appendix</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Appendix: beyond the classical bound</a:t>
            </a:r>
          </a:p>
        </p:txBody>
      </p:sp>
      <p:sp>
        <p:nvSpPr>
          <p:cNvPr id="5" name="Rounded Rectangle 4"/>
          <p:cNvSpPr/>
          <p:nvPr/>
        </p:nvSpPr>
        <p:spPr>
          <a:xfrm>
            <a:off x="594360" y="5879592"/>
            <a:ext cx="10991088" cy="530352"/>
          </a:xfrm>
          <a:prstGeom prst="roundRect">
            <a:avLst>
              <a:gd name="adj" fmla="val 6000"/>
            </a:avLst>
          </a:prstGeom>
          <a:solidFill>
            <a:srgbClr val="173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989320"/>
            <a:ext cx="10561320" cy="347472"/>
          </a:xfrm>
          <a:prstGeom prst="rect">
            <a:avLst/>
          </a:prstGeom>
          <a:noFill/>
        </p:spPr>
        <p:txBody>
          <a:bodyPr wrap="none" lIns="0" rIns="0" tIns="0" bIns="0" anchor="t">
            <a:spAutoFit/>
          </a:bodyPr>
          <a:lstStyle/>
          <a:p>
            <a:pPr algn="l">
              <a:lnSpc>
                <a:spcPct val="120000"/>
              </a:lnSpc>
              <a:spcBef>
                <a:spcPts val="0"/>
              </a:spcBef>
              <a:spcAft>
                <a:spcPts val="0"/>
              </a:spcAft>
              <a:defRPr sz="1540" b="0">
                <a:solidFill>
                  <a:srgbClr val="FFFEFB"/>
                </a:solidFill>
                <a:latin typeface="Arial"/>
              </a:defRPr>
            </a:pPr>
            <a:r>
              <a:t>A model-specific research result, not an implementation or runtime claim for this lecture.</a:t>
            </a:r>
          </a:p>
        </p:txBody>
      </p:sp>
      <p:sp>
        <p:nvSpPr>
          <p:cNvPr id="7" name="Rectangle 6"/>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9" name="Rectangle 8"/>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11" name="Rectangle 10"/>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3" name="Rectangle 12"/>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5" name="Rectangle 14"/>
          <p:cNvSpPr/>
          <p:nvPr/>
        </p:nvSpPr>
        <p:spPr>
          <a:xfrm>
            <a:off x="681228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TEST</a:t>
            </a:r>
          </a:p>
        </p:txBody>
      </p:sp>
      <p:sp>
        <p:nvSpPr>
          <p:cNvPr id="17" name="TextBox 16"/>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r>
              <a:t>R8</a:t>
            </a:r>
          </a:p>
        </p:txBody>
      </p:sp>
      <p:sp>
        <p:nvSpPr>
          <p:cNvPr id="18" name="TextBox 17"/>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31</a:t>
            </a:r>
          </a:p>
        </p:txBody>
      </p:sp>
      <p:sp>
        <p:nvSpPr>
          <p:cNvPr id="19" name="TextBox 18"/>
          <p:cNvSpPr txBox="1"/>
          <p:nvPr/>
        </p:nvSpPr>
        <p:spPr>
          <a:xfrm>
            <a:off x="822960" y="2057400"/>
            <a:ext cx="10515600" cy="914400"/>
          </a:xfrm>
          <a:prstGeom prst="rect">
            <a:avLst/>
          </a:prstGeom>
          <a:noFill/>
        </p:spPr>
        <p:txBody>
          <a:bodyPr wrap="none" lIns="0" rIns="0" tIns="0" bIns="0" anchor="t">
            <a:spAutoFit/>
          </a:bodyPr>
          <a:lstStyle/>
          <a:p>
            <a:pPr algn="l">
              <a:lnSpc>
                <a:spcPct val="120000"/>
              </a:lnSpc>
              <a:spcBef>
                <a:spcPts val="0"/>
              </a:spcBef>
              <a:spcAft>
                <a:spcPts val="0"/>
              </a:spcAft>
              <a:defRPr sz="5000" b="1">
                <a:solidFill>
                  <a:srgbClr val="087E79"/>
                </a:solidFill>
                <a:latin typeface="Arial"/>
              </a:defRPr>
            </a:pPr>
            <a:r>
              <a:t>O(m log^(2/3) n)</a:t>
            </a:r>
          </a:p>
        </p:txBody>
      </p:sp>
      <p:sp>
        <p:nvSpPr>
          <p:cNvPr id="20" name="TextBox 19"/>
          <p:cNvSpPr txBox="1"/>
          <p:nvPr/>
        </p:nvSpPr>
        <p:spPr>
          <a:xfrm>
            <a:off x="859536" y="3602736"/>
            <a:ext cx="10424160" cy="1627632"/>
          </a:xfrm>
          <a:prstGeom prst="rect">
            <a:avLst/>
          </a:prstGeom>
          <a:noFill/>
        </p:spPr>
        <p:txBody>
          <a:bodyPr wrap="none" lIns="0" rIns="0" tIns="0" bIns="0" anchor="t">
            <a:spAutoFit/>
          </a:bodyPr>
          <a:lstStyle/>
          <a:p>
            <a:pPr algn="l">
              <a:lnSpc>
                <a:spcPct val="120000"/>
              </a:lnSpc>
              <a:spcBef>
                <a:spcPts val="0"/>
              </a:spcBef>
              <a:spcAft>
                <a:spcPts val="0"/>
              </a:spcAft>
              <a:defRPr sz="2500" b="0">
                <a:solidFill>
                  <a:srgbClr val="17323D"/>
                </a:solidFill>
                <a:latin typeface="Arial"/>
              </a:defRPr>
            </a:pPr>
            <a:r>
              <a:t>Duan, Mao, Mao, Shu and Yin (2025)</a:t>
            </a:r>
          </a:p>
          <a:p>
            <a:pPr algn="l">
              <a:lnSpc>
                <a:spcPct val="120000"/>
              </a:lnSpc>
              <a:spcBef>
                <a:spcPts val="0"/>
              </a:spcBef>
              <a:spcAft>
                <a:spcPts val="0"/>
              </a:spcAft>
              <a:defRPr sz="2500" b="0">
                <a:solidFill>
                  <a:srgbClr val="17323D"/>
                </a:solidFill>
                <a:latin typeface="Arial"/>
              </a:defRPr>
            </a:pPr>
            <a:r>
              <a:t>Directed SSSP · real nonnegative edge weights</a:t>
            </a:r>
          </a:p>
          <a:p>
            <a:pPr algn="l">
              <a:lnSpc>
                <a:spcPct val="120000"/>
              </a:lnSpc>
              <a:spcBef>
                <a:spcPts val="0"/>
              </a:spcBef>
              <a:spcAft>
                <a:spcPts val="0"/>
              </a:spcAft>
              <a:defRPr sz="2500" b="0">
                <a:solidFill>
                  <a:srgbClr val="17323D"/>
                </a:solidFill>
                <a:latin typeface="Arial"/>
              </a:defRPr>
            </a:pPr>
            <a:r>
              <a:t>Deterministic · comparison-addition model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READ FURTHER</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Appendix</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References / algorithmic foundations</a:t>
            </a:r>
          </a:p>
        </p:txBody>
      </p:sp>
      <p:sp>
        <p:nvSpPr>
          <p:cNvPr id="5" name="Rectangle 4"/>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7" name="Rectangle 6"/>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9" name="Rectangle 8"/>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1" name="Rectangle 10"/>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3" name="Rectangle 12"/>
          <p:cNvSpPr/>
          <p:nvPr/>
        </p:nvSpPr>
        <p:spPr>
          <a:xfrm>
            <a:off x="681228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TEST</a:t>
            </a:r>
          </a:p>
        </p:txBody>
      </p:sp>
      <p:sp>
        <p:nvSpPr>
          <p:cNvPr id="15" name="TextBox 14"/>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p>
        </p:txBody>
      </p:sp>
      <p:sp>
        <p:nvSpPr>
          <p:cNvPr id="16" name="TextBox 15"/>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32</a:t>
            </a:r>
          </a:p>
        </p:txBody>
      </p:sp>
      <p:sp>
        <p:nvSpPr>
          <p:cNvPr id="17" name="TextBox 16"/>
          <p:cNvSpPr txBox="1"/>
          <p:nvPr/>
        </p:nvSpPr>
        <p:spPr>
          <a:xfrm>
            <a:off x="676656" y="1883664"/>
            <a:ext cx="685800" cy="457200"/>
          </a:xfrm>
          <a:prstGeom prst="rect">
            <a:avLst/>
          </a:prstGeom>
          <a:noFill/>
        </p:spPr>
        <p:txBody>
          <a:bodyPr wrap="none" lIns="0" rIns="0" tIns="0" bIns="0" anchor="t">
            <a:spAutoFit/>
          </a:bodyPr>
          <a:lstStyle/>
          <a:p>
            <a:pPr algn="l">
              <a:lnSpc>
                <a:spcPct val="120000"/>
              </a:lnSpc>
              <a:spcBef>
                <a:spcPts val="0"/>
              </a:spcBef>
              <a:spcAft>
                <a:spcPts val="0"/>
              </a:spcAft>
              <a:defRPr sz="1800" b="1">
                <a:solidFill>
                  <a:srgbClr val="087E79"/>
                </a:solidFill>
                <a:latin typeface="Arial"/>
              </a:defRPr>
            </a:pPr>
            <a:r>
              <a:t>R1</a:t>
            </a:r>
          </a:p>
        </p:txBody>
      </p:sp>
      <p:sp>
        <p:nvSpPr>
          <p:cNvPr id="18" name="TextBox 17"/>
          <p:cNvSpPr txBox="1"/>
          <p:nvPr/>
        </p:nvSpPr>
        <p:spPr>
          <a:xfrm>
            <a:off x="1499616" y="1883664"/>
            <a:ext cx="9921240" cy="429768"/>
          </a:xfrm>
          <a:prstGeom prst="rect">
            <a:avLst/>
          </a:prstGeom>
          <a:noFill/>
        </p:spPr>
        <p:txBody>
          <a:bodyPr wrap="none" lIns="0" rIns="0" tIns="0" bIns="0" anchor="t">
            <a:spAutoFit/>
          </a:bodyPr>
          <a:lstStyle/>
          <a:p>
            <a:pPr algn="l">
              <a:lnSpc>
                <a:spcPct val="120000"/>
              </a:lnSpc>
              <a:spcBef>
                <a:spcPts val="0"/>
              </a:spcBef>
              <a:spcAft>
                <a:spcPts val="0"/>
              </a:spcAft>
              <a:defRPr sz="1800" b="0">
                <a:solidFill>
                  <a:srgbClr val="17323D"/>
                </a:solidFill>
                <a:latin typeface="Arial"/>
              </a:defRPr>
            </a:pPr>
            <a:r>
              <a:t>Dijkstra (1959). A Note on Two Problems in Connexion with Graphs.</a:t>
            </a:r>
          </a:p>
        </p:txBody>
      </p:sp>
      <p:sp>
        <p:nvSpPr>
          <p:cNvPr id="19" name="TextBox 18"/>
          <p:cNvSpPr txBox="1"/>
          <p:nvPr/>
        </p:nvSpPr>
        <p:spPr>
          <a:xfrm>
            <a:off x="1499616" y="2350008"/>
            <a:ext cx="9921240" cy="365760"/>
          </a:xfrm>
          <a:prstGeom prst="rect">
            <a:avLst/>
          </a:prstGeom>
          <a:noFill/>
        </p:spPr>
        <p:txBody>
          <a:bodyPr wrap="none" lIns="0" rIns="0" tIns="0" bIns="0" anchor="t">
            <a:spAutoFit/>
          </a:bodyPr>
          <a:lstStyle/>
          <a:p>
            <a:pPr algn="l">
              <a:lnSpc>
                <a:spcPct val="120000"/>
              </a:lnSpc>
              <a:spcBef>
                <a:spcPts val="0"/>
              </a:spcBef>
              <a:spcAft>
                <a:spcPts val="0"/>
              </a:spcAft>
              <a:defRPr sz="1280" b="0">
                <a:solidFill>
                  <a:srgbClr val="63777D"/>
                </a:solidFill>
                <a:latin typeface="Arial"/>
              </a:defRPr>
            </a:pPr>
            <a:r>
              <a:t>ir.cwi.nl/pub/9256/9256D.pdf</a:t>
            </a:r>
          </a:p>
        </p:txBody>
      </p:sp>
      <p:sp>
        <p:nvSpPr>
          <p:cNvPr id="20" name="TextBox 19"/>
          <p:cNvSpPr txBox="1"/>
          <p:nvPr/>
        </p:nvSpPr>
        <p:spPr>
          <a:xfrm>
            <a:off x="676656" y="2898648"/>
            <a:ext cx="685800" cy="457200"/>
          </a:xfrm>
          <a:prstGeom prst="rect">
            <a:avLst/>
          </a:prstGeom>
          <a:noFill/>
        </p:spPr>
        <p:txBody>
          <a:bodyPr wrap="none" lIns="0" rIns="0" tIns="0" bIns="0" anchor="t">
            <a:spAutoFit/>
          </a:bodyPr>
          <a:lstStyle/>
          <a:p>
            <a:pPr algn="l">
              <a:lnSpc>
                <a:spcPct val="120000"/>
              </a:lnSpc>
              <a:spcBef>
                <a:spcPts val="0"/>
              </a:spcBef>
              <a:spcAft>
                <a:spcPts val="0"/>
              </a:spcAft>
              <a:defRPr sz="1800" b="1">
                <a:solidFill>
                  <a:srgbClr val="087E79"/>
                </a:solidFill>
                <a:latin typeface="Arial"/>
              </a:defRPr>
            </a:pPr>
            <a:r>
              <a:t>R2</a:t>
            </a:r>
          </a:p>
        </p:txBody>
      </p:sp>
      <p:sp>
        <p:nvSpPr>
          <p:cNvPr id="21" name="TextBox 20"/>
          <p:cNvSpPr txBox="1"/>
          <p:nvPr/>
        </p:nvSpPr>
        <p:spPr>
          <a:xfrm>
            <a:off x="1499616" y="2898648"/>
            <a:ext cx="9921240" cy="429768"/>
          </a:xfrm>
          <a:prstGeom prst="rect">
            <a:avLst/>
          </a:prstGeom>
          <a:noFill/>
        </p:spPr>
        <p:txBody>
          <a:bodyPr wrap="none" lIns="0" rIns="0" tIns="0" bIns="0" anchor="t">
            <a:spAutoFit/>
          </a:bodyPr>
          <a:lstStyle/>
          <a:p>
            <a:pPr algn="l">
              <a:lnSpc>
                <a:spcPct val="120000"/>
              </a:lnSpc>
              <a:spcBef>
                <a:spcPts val="0"/>
              </a:spcBef>
              <a:spcAft>
                <a:spcPts val="0"/>
              </a:spcAft>
              <a:defRPr sz="1800" b="0">
                <a:solidFill>
                  <a:srgbClr val="17323D"/>
                </a:solidFill>
                <a:latin typeface="Arial"/>
              </a:defRPr>
            </a:pPr>
            <a:r>
              <a:t>Python documentation. heapq: priority queue implementation notes.</a:t>
            </a:r>
          </a:p>
        </p:txBody>
      </p:sp>
      <p:sp>
        <p:nvSpPr>
          <p:cNvPr id="22" name="TextBox 21"/>
          <p:cNvSpPr txBox="1"/>
          <p:nvPr/>
        </p:nvSpPr>
        <p:spPr>
          <a:xfrm>
            <a:off x="1499616" y="3364991"/>
            <a:ext cx="9921240" cy="365760"/>
          </a:xfrm>
          <a:prstGeom prst="rect">
            <a:avLst/>
          </a:prstGeom>
          <a:noFill/>
        </p:spPr>
        <p:txBody>
          <a:bodyPr wrap="none" lIns="0" rIns="0" tIns="0" bIns="0" anchor="t">
            <a:spAutoFit/>
          </a:bodyPr>
          <a:lstStyle/>
          <a:p>
            <a:pPr algn="l">
              <a:lnSpc>
                <a:spcPct val="120000"/>
              </a:lnSpc>
              <a:spcBef>
                <a:spcPts val="0"/>
              </a:spcBef>
              <a:spcAft>
                <a:spcPts val="0"/>
              </a:spcAft>
              <a:defRPr sz="1280" b="0">
                <a:solidFill>
                  <a:srgbClr val="63777D"/>
                </a:solidFill>
                <a:latin typeface="Arial"/>
              </a:defRPr>
            </a:pPr>
            <a:r>
              <a:t>docs.python.org/3/library/heapq.html</a:t>
            </a:r>
          </a:p>
        </p:txBody>
      </p:sp>
      <p:sp>
        <p:nvSpPr>
          <p:cNvPr id="23" name="TextBox 22"/>
          <p:cNvSpPr txBox="1"/>
          <p:nvPr/>
        </p:nvSpPr>
        <p:spPr>
          <a:xfrm>
            <a:off x="676656" y="3913632"/>
            <a:ext cx="685800" cy="457200"/>
          </a:xfrm>
          <a:prstGeom prst="rect">
            <a:avLst/>
          </a:prstGeom>
          <a:noFill/>
        </p:spPr>
        <p:txBody>
          <a:bodyPr wrap="none" lIns="0" rIns="0" tIns="0" bIns="0" anchor="t">
            <a:spAutoFit/>
          </a:bodyPr>
          <a:lstStyle/>
          <a:p>
            <a:pPr algn="l">
              <a:lnSpc>
                <a:spcPct val="120000"/>
              </a:lnSpc>
              <a:spcBef>
                <a:spcPts val="0"/>
              </a:spcBef>
              <a:spcAft>
                <a:spcPts val="0"/>
              </a:spcAft>
              <a:defRPr sz="1800" b="1">
                <a:solidFill>
                  <a:srgbClr val="087E79"/>
                </a:solidFill>
                <a:latin typeface="Arial"/>
              </a:defRPr>
            </a:pPr>
            <a:r>
              <a:t>R3</a:t>
            </a:r>
          </a:p>
        </p:txBody>
      </p:sp>
      <p:sp>
        <p:nvSpPr>
          <p:cNvPr id="24" name="TextBox 23"/>
          <p:cNvSpPr txBox="1"/>
          <p:nvPr/>
        </p:nvSpPr>
        <p:spPr>
          <a:xfrm>
            <a:off x="1499616" y="3913632"/>
            <a:ext cx="9921240" cy="429768"/>
          </a:xfrm>
          <a:prstGeom prst="rect">
            <a:avLst/>
          </a:prstGeom>
          <a:noFill/>
        </p:spPr>
        <p:txBody>
          <a:bodyPr wrap="none" lIns="0" rIns="0" tIns="0" bIns="0" anchor="t">
            <a:spAutoFit/>
          </a:bodyPr>
          <a:lstStyle/>
          <a:p>
            <a:pPr algn="l">
              <a:lnSpc>
                <a:spcPct val="120000"/>
              </a:lnSpc>
              <a:spcBef>
                <a:spcPts val="0"/>
              </a:spcBef>
              <a:spcAft>
                <a:spcPts val="0"/>
              </a:spcAft>
              <a:defRPr sz="1800" b="0">
                <a:solidFill>
                  <a:srgbClr val="17323D"/>
                </a:solidFill>
                <a:latin typeface="Arial"/>
              </a:defRPr>
            </a:pPr>
            <a:r>
              <a:t>UC Berkeley CS188. Informed Search.</a:t>
            </a:r>
          </a:p>
        </p:txBody>
      </p:sp>
      <p:sp>
        <p:nvSpPr>
          <p:cNvPr id="25" name="TextBox 24"/>
          <p:cNvSpPr txBox="1"/>
          <p:nvPr/>
        </p:nvSpPr>
        <p:spPr>
          <a:xfrm>
            <a:off x="1499616" y="4379976"/>
            <a:ext cx="9921240" cy="365760"/>
          </a:xfrm>
          <a:prstGeom prst="rect">
            <a:avLst/>
          </a:prstGeom>
          <a:noFill/>
        </p:spPr>
        <p:txBody>
          <a:bodyPr wrap="none" lIns="0" rIns="0" tIns="0" bIns="0" anchor="t">
            <a:spAutoFit/>
          </a:bodyPr>
          <a:lstStyle/>
          <a:p>
            <a:pPr algn="l">
              <a:lnSpc>
                <a:spcPct val="120000"/>
              </a:lnSpc>
              <a:spcBef>
                <a:spcPts val="0"/>
              </a:spcBef>
              <a:spcAft>
                <a:spcPts val="0"/>
              </a:spcAft>
              <a:defRPr sz="1280" b="0">
                <a:solidFill>
                  <a:srgbClr val="63777D"/>
                </a:solidFill>
                <a:latin typeface="Arial"/>
              </a:defRPr>
            </a:pPr>
            <a:r>
              <a:t>inst.eecs.berkeley.edu/~cs188/textbook/search/informed.html</a:t>
            </a:r>
          </a:p>
        </p:txBody>
      </p:sp>
      <p:sp>
        <p:nvSpPr>
          <p:cNvPr id="26" name="TextBox 25"/>
          <p:cNvSpPr txBox="1"/>
          <p:nvPr/>
        </p:nvSpPr>
        <p:spPr>
          <a:xfrm>
            <a:off x="676656" y="4928616"/>
            <a:ext cx="685800" cy="457200"/>
          </a:xfrm>
          <a:prstGeom prst="rect">
            <a:avLst/>
          </a:prstGeom>
          <a:noFill/>
        </p:spPr>
        <p:txBody>
          <a:bodyPr wrap="none" lIns="0" rIns="0" tIns="0" bIns="0" anchor="t">
            <a:spAutoFit/>
          </a:bodyPr>
          <a:lstStyle/>
          <a:p>
            <a:pPr algn="l">
              <a:lnSpc>
                <a:spcPct val="120000"/>
              </a:lnSpc>
              <a:spcBef>
                <a:spcPts val="0"/>
              </a:spcBef>
              <a:spcAft>
                <a:spcPts val="0"/>
              </a:spcAft>
              <a:defRPr sz="1800" b="1">
                <a:solidFill>
                  <a:srgbClr val="087E79"/>
                </a:solidFill>
                <a:latin typeface="Arial"/>
              </a:defRPr>
            </a:pPr>
            <a:r>
              <a:t>R4</a:t>
            </a:r>
          </a:p>
        </p:txBody>
      </p:sp>
      <p:sp>
        <p:nvSpPr>
          <p:cNvPr id="27" name="TextBox 26"/>
          <p:cNvSpPr txBox="1"/>
          <p:nvPr/>
        </p:nvSpPr>
        <p:spPr>
          <a:xfrm>
            <a:off x="1499616" y="4928616"/>
            <a:ext cx="9921240" cy="429768"/>
          </a:xfrm>
          <a:prstGeom prst="rect">
            <a:avLst/>
          </a:prstGeom>
          <a:noFill/>
        </p:spPr>
        <p:txBody>
          <a:bodyPr wrap="none" lIns="0" rIns="0" tIns="0" bIns="0" anchor="t">
            <a:spAutoFit/>
          </a:bodyPr>
          <a:lstStyle/>
          <a:p>
            <a:pPr algn="l">
              <a:lnSpc>
                <a:spcPct val="120000"/>
              </a:lnSpc>
              <a:spcBef>
                <a:spcPts val="0"/>
              </a:spcBef>
              <a:spcAft>
                <a:spcPts val="0"/>
              </a:spcAft>
              <a:defRPr sz="1800" b="0">
                <a:solidFill>
                  <a:srgbClr val="17323D"/>
                </a:solidFill>
                <a:latin typeface="Arial"/>
              </a:defRPr>
            </a:pPr>
            <a:r>
              <a:t>Stanford CS221. Search II (2023), proofs and reweighting.</a:t>
            </a:r>
          </a:p>
        </p:txBody>
      </p:sp>
      <p:sp>
        <p:nvSpPr>
          <p:cNvPr id="28" name="TextBox 27"/>
          <p:cNvSpPr txBox="1"/>
          <p:nvPr/>
        </p:nvSpPr>
        <p:spPr>
          <a:xfrm>
            <a:off x="1499616" y="5394960"/>
            <a:ext cx="9921240" cy="365760"/>
          </a:xfrm>
          <a:prstGeom prst="rect">
            <a:avLst/>
          </a:prstGeom>
          <a:noFill/>
        </p:spPr>
        <p:txBody>
          <a:bodyPr wrap="none" lIns="0" rIns="0" tIns="0" bIns="0" anchor="t">
            <a:spAutoFit/>
          </a:bodyPr>
          <a:lstStyle/>
          <a:p>
            <a:pPr algn="l">
              <a:lnSpc>
                <a:spcPct val="120000"/>
              </a:lnSpc>
              <a:spcBef>
                <a:spcPts val="0"/>
              </a:spcBef>
              <a:spcAft>
                <a:spcPts val="0"/>
              </a:spcAft>
              <a:defRPr sz="1280" b="0">
                <a:solidFill>
                  <a:srgbClr val="63777D"/>
                </a:solidFill>
                <a:latin typeface="Arial"/>
              </a:defRPr>
            </a:pPr>
            <a:r>
              <a:t>stanford-cs221.github.io/spring2023-extra/modules/search/search2.pdf</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1EB"/>
        </a:solidFill>
        <a:effectLst/>
      </p:bgPr>
    </p:bg>
    <p:spTree>
      <p:nvGrpSpPr>
        <p:cNvPr id="1" name=""/>
        <p:cNvGrpSpPr/>
        <p:nvPr/>
      </p:nvGrpSpPr>
      <p:grpSpPr/>
      <p:sp>
        <p:nvSpPr>
          <p:cNvPr id="2" name="TextBox 1"/>
          <p:cNvSpPr txBox="1"/>
          <p:nvPr/>
        </p:nvSpPr>
        <p:spPr>
          <a:xfrm>
            <a:off x="594360" y="310896"/>
            <a:ext cx="9144000" cy="274320"/>
          </a:xfrm>
          <a:prstGeom prst="rect">
            <a:avLst/>
          </a:prstGeom>
          <a:noFill/>
        </p:spPr>
        <p:txBody>
          <a:bodyPr wrap="none" lIns="0" rIns="0" tIns="0" bIns="0" anchor="t">
            <a:spAutoFit/>
          </a:bodyPr>
          <a:lstStyle/>
          <a:p>
            <a:pPr algn="l">
              <a:lnSpc>
                <a:spcPct val="120000"/>
              </a:lnSpc>
              <a:spcBef>
                <a:spcPts val="0"/>
              </a:spcBef>
              <a:spcAft>
                <a:spcPts val="0"/>
              </a:spcAft>
              <a:defRPr sz="1100" b="1">
                <a:solidFill>
                  <a:srgbClr val="087E79"/>
                </a:solidFill>
                <a:latin typeface="Arial"/>
              </a:defRPr>
            </a:pPr>
            <a:r>
              <a:t>READ FURTHER</a:t>
            </a:r>
          </a:p>
        </p:txBody>
      </p:sp>
      <p:sp>
        <p:nvSpPr>
          <p:cNvPr id="3" name="TextBox 2"/>
          <p:cNvSpPr txBox="1"/>
          <p:nvPr/>
        </p:nvSpPr>
        <p:spPr>
          <a:xfrm>
            <a:off x="10058400" y="310896"/>
            <a:ext cx="1517904" cy="27432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63777D"/>
                </a:solidFill>
                <a:latin typeface="Arial"/>
              </a:defRPr>
            </a:pPr>
            <a:r>
              <a:t>Appendix</a:t>
            </a:r>
          </a:p>
        </p:txBody>
      </p:sp>
      <p:sp>
        <p:nvSpPr>
          <p:cNvPr id="4" name="TextBox 3"/>
          <p:cNvSpPr txBox="1"/>
          <p:nvPr/>
        </p:nvSpPr>
        <p:spPr>
          <a:xfrm>
            <a:off x="594360" y="804672"/>
            <a:ext cx="11018520" cy="777240"/>
          </a:xfrm>
          <a:prstGeom prst="rect">
            <a:avLst/>
          </a:prstGeom>
          <a:noFill/>
        </p:spPr>
        <p:txBody>
          <a:bodyPr wrap="none" lIns="0" rIns="0" tIns="0" bIns="0" anchor="t">
            <a:spAutoFit/>
          </a:bodyPr>
          <a:lstStyle/>
          <a:p>
            <a:pPr algn="l">
              <a:lnSpc>
                <a:spcPct val="120000"/>
              </a:lnSpc>
              <a:spcBef>
                <a:spcPts val="0"/>
              </a:spcBef>
              <a:spcAft>
                <a:spcPts val="0"/>
              </a:spcAft>
              <a:defRPr sz="3200" b="1">
                <a:solidFill>
                  <a:srgbClr val="17323D"/>
                </a:solidFill>
                <a:latin typeface="Arial"/>
              </a:defRPr>
            </a:pPr>
            <a:r>
              <a:t>References / applications and perspective</a:t>
            </a:r>
          </a:p>
        </p:txBody>
      </p:sp>
      <p:sp>
        <p:nvSpPr>
          <p:cNvPr id="5" name="Rectangle 4"/>
          <p:cNvSpPr/>
          <p:nvPr/>
        </p:nvSpPr>
        <p:spPr>
          <a:xfrm>
            <a:off x="59436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MODEL</a:t>
            </a:r>
          </a:p>
        </p:txBody>
      </p:sp>
      <p:sp>
        <p:nvSpPr>
          <p:cNvPr id="7" name="Rectangle 6"/>
          <p:cNvSpPr/>
          <p:nvPr/>
        </p:nvSpPr>
        <p:spPr>
          <a:xfrm>
            <a:off x="214884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4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ENUMERATE</a:t>
            </a:r>
          </a:p>
        </p:txBody>
      </p:sp>
      <p:sp>
        <p:nvSpPr>
          <p:cNvPr id="9" name="Rectangle 8"/>
          <p:cNvSpPr/>
          <p:nvPr/>
        </p:nvSpPr>
        <p:spPr>
          <a:xfrm>
            <a:off x="370332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FINALIZE</a:t>
            </a:r>
          </a:p>
        </p:txBody>
      </p:sp>
      <p:sp>
        <p:nvSpPr>
          <p:cNvPr id="11" name="Rectangle 10"/>
          <p:cNvSpPr/>
          <p:nvPr/>
        </p:nvSpPr>
        <p:spPr>
          <a:xfrm>
            <a:off x="5257800" y="6537960"/>
            <a:ext cx="1298448" cy="22860"/>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5780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63777D"/>
                </a:solidFill>
                <a:latin typeface="Arial"/>
              </a:defRPr>
            </a:pPr>
            <a:r>
              <a:t>INFORM</a:t>
            </a:r>
          </a:p>
        </p:txBody>
      </p:sp>
      <p:sp>
        <p:nvSpPr>
          <p:cNvPr id="13" name="Rectangle 12"/>
          <p:cNvSpPr/>
          <p:nvPr/>
        </p:nvSpPr>
        <p:spPr>
          <a:xfrm>
            <a:off x="6812280" y="6537960"/>
            <a:ext cx="1298448" cy="22860"/>
          </a:xfrm>
          <a:prstGeom prst="rect">
            <a:avLst/>
          </a:prstGeom>
          <a:solidFill>
            <a:srgbClr val="087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6601968"/>
            <a:ext cx="1298448" cy="137160"/>
          </a:xfrm>
          <a:prstGeom prst="rect">
            <a:avLst/>
          </a:prstGeom>
          <a:noFill/>
        </p:spPr>
        <p:txBody>
          <a:bodyPr wrap="none" lIns="0" rIns="0" tIns="0" bIns="0" anchor="t">
            <a:spAutoFit/>
          </a:bodyPr>
          <a:lstStyle/>
          <a:p>
            <a:pPr algn="l">
              <a:lnSpc>
                <a:spcPct val="120000"/>
              </a:lnSpc>
              <a:spcBef>
                <a:spcPts val="0"/>
              </a:spcBef>
              <a:spcAft>
                <a:spcPts val="0"/>
              </a:spcAft>
              <a:defRPr sz="750" b="1">
                <a:solidFill>
                  <a:srgbClr val="087E79"/>
                </a:solidFill>
                <a:latin typeface="Arial"/>
              </a:defRPr>
            </a:pPr>
            <a:r>
              <a:t>TEST</a:t>
            </a:r>
          </a:p>
        </p:txBody>
      </p:sp>
      <p:sp>
        <p:nvSpPr>
          <p:cNvPr id="15" name="TextBox 14"/>
          <p:cNvSpPr txBox="1"/>
          <p:nvPr/>
        </p:nvSpPr>
        <p:spPr>
          <a:xfrm>
            <a:off x="8641080" y="6574536"/>
            <a:ext cx="2240280" cy="201168"/>
          </a:xfrm>
          <a:prstGeom prst="rect">
            <a:avLst/>
          </a:prstGeom>
          <a:noFill/>
        </p:spPr>
        <p:txBody>
          <a:bodyPr wrap="none" lIns="0" rIns="0" tIns="0" bIns="0" anchor="t">
            <a:spAutoFit/>
          </a:bodyPr>
          <a:lstStyle/>
          <a:p>
            <a:pPr algn="r">
              <a:lnSpc>
                <a:spcPct val="120000"/>
              </a:lnSpc>
              <a:spcBef>
                <a:spcPts val="0"/>
              </a:spcBef>
              <a:spcAft>
                <a:spcPts val="0"/>
              </a:spcAft>
              <a:defRPr sz="900" b="0">
                <a:solidFill>
                  <a:srgbClr val="63777D"/>
                </a:solidFill>
                <a:latin typeface="Arial"/>
              </a:defRPr>
            </a:pPr>
          </a:p>
        </p:txBody>
      </p:sp>
      <p:sp>
        <p:nvSpPr>
          <p:cNvPr id="16" name="TextBox 15"/>
          <p:cNvSpPr txBox="1"/>
          <p:nvPr/>
        </p:nvSpPr>
        <p:spPr>
          <a:xfrm>
            <a:off x="10972800" y="6547104"/>
            <a:ext cx="594360" cy="228600"/>
          </a:xfrm>
          <a:prstGeom prst="rect">
            <a:avLst/>
          </a:prstGeom>
          <a:noFill/>
        </p:spPr>
        <p:txBody>
          <a:bodyPr wrap="none" lIns="0" rIns="0" tIns="0" bIns="0" anchor="t">
            <a:spAutoFit/>
          </a:bodyPr>
          <a:lstStyle/>
          <a:p>
            <a:pPr algn="r">
              <a:lnSpc>
                <a:spcPct val="120000"/>
              </a:lnSpc>
              <a:spcBef>
                <a:spcPts val="0"/>
              </a:spcBef>
              <a:spcAft>
                <a:spcPts val="0"/>
              </a:spcAft>
              <a:defRPr sz="1100" b="0">
                <a:solidFill>
                  <a:srgbClr val="17323D"/>
                </a:solidFill>
                <a:latin typeface="Arial"/>
              </a:defRPr>
            </a:pPr>
            <a:r>
              <a:t>33</a:t>
            </a:r>
          </a:p>
        </p:txBody>
      </p:sp>
      <p:sp>
        <p:nvSpPr>
          <p:cNvPr id="17" name="TextBox 16"/>
          <p:cNvSpPr txBox="1"/>
          <p:nvPr/>
        </p:nvSpPr>
        <p:spPr>
          <a:xfrm>
            <a:off x="676656" y="1883664"/>
            <a:ext cx="685800" cy="457200"/>
          </a:xfrm>
          <a:prstGeom prst="rect">
            <a:avLst/>
          </a:prstGeom>
          <a:noFill/>
        </p:spPr>
        <p:txBody>
          <a:bodyPr wrap="none" lIns="0" rIns="0" tIns="0" bIns="0" anchor="t">
            <a:spAutoFit/>
          </a:bodyPr>
          <a:lstStyle/>
          <a:p>
            <a:pPr algn="l">
              <a:lnSpc>
                <a:spcPct val="120000"/>
              </a:lnSpc>
              <a:spcBef>
                <a:spcPts val="0"/>
              </a:spcBef>
              <a:spcAft>
                <a:spcPts val="0"/>
              </a:spcAft>
              <a:defRPr sz="1800" b="1">
                <a:solidFill>
                  <a:srgbClr val="087E79"/>
                </a:solidFill>
                <a:latin typeface="Arial"/>
              </a:defRPr>
            </a:pPr>
            <a:r>
              <a:t>R5</a:t>
            </a:r>
          </a:p>
        </p:txBody>
      </p:sp>
      <p:sp>
        <p:nvSpPr>
          <p:cNvPr id="18" name="TextBox 17"/>
          <p:cNvSpPr txBox="1"/>
          <p:nvPr/>
        </p:nvSpPr>
        <p:spPr>
          <a:xfrm>
            <a:off x="1499616" y="1883664"/>
            <a:ext cx="9921240" cy="429768"/>
          </a:xfrm>
          <a:prstGeom prst="rect">
            <a:avLst/>
          </a:prstGeom>
          <a:noFill/>
        </p:spPr>
        <p:txBody>
          <a:bodyPr wrap="none" lIns="0" rIns="0" tIns="0" bIns="0" anchor="t">
            <a:spAutoFit/>
          </a:bodyPr>
          <a:lstStyle/>
          <a:p>
            <a:pPr algn="l">
              <a:lnSpc>
                <a:spcPct val="120000"/>
              </a:lnSpc>
              <a:spcBef>
                <a:spcPts val="0"/>
              </a:spcBef>
              <a:spcAft>
                <a:spcPts val="0"/>
              </a:spcAft>
              <a:defRPr sz="1800" b="0">
                <a:solidFill>
                  <a:srgbClr val="17323D"/>
                </a:solidFill>
                <a:latin typeface="Arial"/>
              </a:defRPr>
            </a:pPr>
            <a:r>
              <a:t>NetworkX documentation. all_simple_paths and factorial growth.</a:t>
            </a:r>
          </a:p>
        </p:txBody>
      </p:sp>
      <p:sp>
        <p:nvSpPr>
          <p:cNvPr id="19" name="TextBox 18"/>
          <p:cNvSpPr txBox="1"/>
          <p:nvPr/>
        </p:nvSpPr>
        <p:spPr>
          <a:xfrm>
            <a:off x="1499616" y="2350008"/>
            <a:ext cx="9921240" cy="365760"/>
          </a:xfrm>
          <a:prstGeom prst="rect">
            <a:avLst/>
          </a:prstGeom>
          <a:noFill/>
        </p:spPr>
        <p:txBody>
          <a:bodyPr wrap="none" lIns="0" rIns="0" tIns="0" bIns="0" anchor="t">
            <a:spAutoFit/>
          </a:bodyPr>
          <a:lstStyle/>
          <a:p>
            <a:pPr algn="l">
              <a:lnSpc>
                <a:spcPct val="120000"/>
              </a:lnSpc>
              <a:spcBef>
                <a:spcPts val="0"/>
              </a:spcBef>
              <a:spcAft>
                <a:spcPts val="0"/>
              </a:spcAft>
              <a:defRPr sz="1280" b="0">
                <a:solidFill>
                  <a:srgbClr val="63777D"/>
                </a:solidFill>
                <a:latin typeface="Arial"/>
              </a:defRPr>
            </a:pPr>
            <a:r>
              <a:t>networkx.org/documentation/stable/reference/algorithms/</a:t>
            </a:r>
          </a:p>
        </p:txBody>
      </p:sp>
      <p:sp>
        <p:nvSpPr>
          <p:cNvPr id="20" name="TextBox 19"/>
          <p:cNvSpPr txBox="1"/>
          <p:nvPr/>
        </p:nvSpPr>
        <p:spPr>
          <a:xfrm>
            <a:off x="676656" y="2898648"/>
            <a:ext cx="685800" cy="457200"/>
          </a:xfrm>
          <a:prstGeom prst="rect">
            <a:avLst/>
          </a:prstGeom>
          <a:noFill/>
        </p:spPr>
        <p:txBody>
          <a:bodyPr wrap="none" lIns="0" rIns="0" tIns="0" bIns="0" anchor="t">
            <a:spAutoFit/>
          </a:bodyPr>
          <a:lstStyle/>
          <a:p>
            <a:pPr algn="l">
              <a:lnSpc>
                <a:spcPct val="120000"/>
              </a:lnSpc>
              <a:spcBef>
                <a:spcPts val="0"/>
              </a:spcBef>
              <a:spcAft>
                <a:spcPts val="0"/>
              </a:spcAft>
              <a:defRPr sz="1800" b="1">
                <a:solidFill>
                  <a:srgbClr val="087E79"/>
                </a:solidFill>
                <a:latin typeface="Arial"/>
              </a:defRPr>
            </a:pPr>
            <a:r>
              <a:t>R6</a:t>
            </a:r>
          </a:p>
        </p:txBody>
      </p:sp>
      <p:sp>
        <p:nvSpPr>
          <p:cNvPr id="21" name="TextBox 20"/>
          <p:cNvSpPr txBox="1"/>
          <p:nvPr/>
        </p:nvSpPr>
        <p:spPr>
          <a:xfrm>
            <a:off x="1499616" y="2898648"/>
            <a:ext cx="9921240" cy="429768"/>
          </a:xfrm>
          <a:prstGeom prst="rect">
            <a:avLst/>
          </a:prstGeom>
          <a:noFill/>
        </p:spPr>
        <p:txBody>
          <a:bodyPr wrap="none" lIns="0" rIns="0" tIns="0" bIns="0" anchor="t">
            <a:spAutoFit/>
          </a:bodyPr>
          <a:lstStyle/>
          <a:p>
            <a:pPr algn="l">
              <a:lnSpc>
                <a:spcPct val="120000"/>
              </a:lnSpc>
              <a:spcBef>
                <a:spcPts val="0"/>
              </a:spcBef>
              <a:spcAft>
                <a:spcPts val="0"/>
              </a:spcAft>
              <a:defRPr sz="1800" b="0">
                <a:solidFill>
                  <a:srgbClr val="17323D"/>
                </a:solidFill>
                <a:latin typeface="Arial"/>
              </a:defRPr>
            </a:pPr>
            <a:r>
              <a:t>Moy (1998). OSPF Version 2. RFC 2328, section 16.1.</a:t>
            </a:r>
          </a:p>
        </p:txBody>
      </p:sp>
      <p:sp>
        <p:nvSpPr>
          <p:cNvPr id="22" name="TextBox 21"/>
          <p:cNvSpPr txBox="1"/>
          <p:nvPr/>
        </p:nvSpPr>
        <p:spPr>
          <a:xfrm>
            <a:off x="1499616" y="3364991"/>
            <a:ext cx="9921240" cy="365760"/>
          </a:xfrm>
          <a:prstGeom prst="rect">
            <a:avLst/>
          </a:prstGeom>
          <a:noFill/>
        </p:spPr>
        <p:txBody>
          <a:bodyPr wrap="none" lIns="0" rIns="0" tIns="0" bIns="0" anchor="t">
            <a:spAutoFit/>
          </a:bodyPr>
          <a:lstStyle/>
          <a:p>
            <a:pPr algn="l">
              <a:lnSpc>
                <a:spcPct val="120000"/>
              </a:lnSpc>
              <a:spcBef>
                <a:spcPts val="0"/>
              </a:spcBef>
              <a:spcAft>
                <a:spcPts val="0"/>
              </a:spcAft>
              <a:defRPr sz="1280" b="0">
                <a:solidFill>
                  <a:srgbClr val="63777D"/>
                </a:solidFill>
                <a:latin typeface="Arial"/>
              </a:defRPr>
            </a:pPr>
            <a:r>
              <a:t>rfc-editor.org/rfc/rfc2328.html#section-16.1</a:t>
            </a:r>
          </a:p>
        </p:txBody>
      </p:sp>
      <p:sp>
        <p:nvSpPr>
          <p:cNvPr id="23" name="TextBox 22"/>
          <p:cNvSpPr txBox="1"/>
          <p:nvPr/>
        </p:nvSpPr>
        <p:spPr>
          <a:xfrm>
            <a:off x="676656" y="3913632"/>
            <a:ext cx="685800" cy="457200"/>
          </a:xfrm>
          <a:prstGeom prst="rect">
            <a:avLst/>
          </a:prstGeom>
          <a:noFill/>
        </p:spPr>
        <p:txBody>
          <a:bodyPr wrap="none" lIns="0" rIns="0" tIns="0" bIns="0" anchor="t">
            <a:spAutoFit/>
          </a:bodyPr>
          <a:lstStyle/>
          <a:p>
            <a:pPr algn="l">
              <a:lnSpc>
                <a:spcPct val="120000"/>
              </a:lnSpc>
              <a:spcBef>
                <a:spcPts val="0"/>
              </a:spcBef>
              <a:spcAft>
                <a:spcPts val="0"/>
              </a:spcAft>
              <a:defRPr sz="1800" b="1">
                <a:solidFill>
                  <a:srgbClr val="087E79"/>
                </a:solidFill>
                <a:latin typeface="Arial"/>
              </a:defRPr>
            </a:pPr>
            <a:r>
              <a:t>R7</a:t>
            </a:r>
          </a:p>
        </p:txBody>
      </p:sp>
      <p:sp>
        <p:nvSpPr>
          <p:cNvPr id="24" name="TextBox 23"/>
          <p:cNvSpPr txBox="1"/>
          <p:nvPr/>
        </p:nvSpPr>
        <p:spPr>
          <a:xfrm>
            <a:off x="1499616" y="3913632"/>
            <a:ext cx="9921240" cy="429768"/>
          </a:xfrm>
          <a:prstGeom prst="rect">
            <a:avLst/>
          </a:prstGeom>
          <a:noFill/>
        </p:spPr>
        <p:txBody>
          <a:bodyPr wrap="none" lIns="0" rIns="0" tIns="0" bIns="0" anchor="t">
            <a:spAutoFit/>
          </a:bodyPr>
          <a:lstStyle/>
          <a:p>
            <a:pPr algn="l">
              <a:lnSpc>
                <a:spcPct val="120000"/>
              </a:lnSpc>
              <a:spcBef>
                <a:spcPts val="0"/>
              </a:spcBef>
              <a:spcAft>
                <a:spcPts val="0"/>
              </a:spcAft>
              <a:defRPr sz="1800" b="0">
                <a:solidFill>
                  <a:srgbClr val="17323D"/>
                </a:solidFill>
                <a:latin typeface="Arial"/>
              </a:defRPr>
            </a:pPr>
            <a:r>
              <a:t>Chen et al. (2007). Priority Queues and Dijkstra’s Algorithm.</a:t>
            </a:r>
          </a:p>
        </p:txBody>
      </p:sp>
      <p:sp>
        <p:nvSpPr>
          <p:cNvPr id="25" name="TextBox 24"/>
          <p:cNvSpPr txBox="1"/>
          <p:nvPr/>
        </p:nvSpPr>
        <p:spPr>
          <a:xfrm>
            <a:off x="1499616" y="4379976"/>
            <a:ext cx="9921240" cy="365760"/>
          </a:xfrm>
          <a:prstGeom prst="rect">
            <a:avLst/>
          </a:prstGeom>
          <a:noFill/>
        </p:spPr>
        <p:txBody>
          <a:bodyPr wrap="none" lIns="0" rIns="0" tIns="0" bIns="0" anchor="t">
            <a:spAutoFit/>
          </a:bodyPr>
          <a:lstStyle/>
          <a:p>
            <a:pPr algn="l">
              <a:lnSpc>
                <a:spcPct val="120000"/>
              </a:lnSpc>
              <a:spcBef>
                <a:spcPts val="0"/>
              </a:spcBef>
              <a:spcAft>
                <a:spcPts val="0"/>
              </a:spcAft>
              <a:defRPr sz="1280" b="0">
                <a:solidFill>
                  <a:srgbClr val="63777D"/>
                </a:solidFill>
                <a:latin typeface="Arial"/>
              </a:defRPr>
            </a:pPr>
            <a:r>
              <a:t>www3.cs.stonybrook.edu/~rezaul/papers/TR-07-54.pdf</a:t>
            </a:r>
          </a:p>
        </p:txBody>
      </p:sp>
      <p:sp>
        <p:nvSpPr>
          <p:cNvPr id="26" name="TextBox 25"/>
          <p:cNvSpPr txBox="1"/>
          <p:nvPr/>
        </p:nvSpPr>
        <p:spPr>
          <a:xfrm>
            <a:off x="676656" y="4928616"/>
            <a:ext cx="685800" cy="457200"/>
          </a:xfrm>
          <a:prstGeom prst="rect">
            <a:avLst/>
          </a:prstGeom>
          <a:noFill/>
        </p:spPr>
        <p:txBody>
          <a:bodyPr wrap="none" lIns="0" rIns="0" tIns="0" bIns="0" anchor="t">
            <a:spAutoFit/>
          </a:bodyPr>
          <a:lstStyle/>
          <a:p>
            <a:pPr algn="l">
              <a:lnSpc>
                <a:spcPct val="120000"/>
              </a:lnSpc>
              <a:spcBef>
                <a:spcPts val="0"/>
              </a:spcBef>
              <a:spcAft>
                <a:spcPts val="0"/>
              </a:spcAft>
              <a:defRPr sz="1800" b="1">
                <a:solidFill>
                  <a:srgbClr val="087E79"/>
                </a:solidFill>
                <a:latin typeface="Arial"/>
              </a:defRPr>
            </a:pPr>
            <a:r>
              <a:t>R8</a:t>
            </a:r>
          </a:p>
        </p:txBody>
      </p:sp>
      <p:sp>
        <p:nvSpPr>
          <p:cNvPr id="27" name="TextBox 26"/>
          <p:cNvSpPr txBox="1"/>
          <p:nvPr/>
        </p:nvSpPr>
        <p:spPr>
          <a:xfrm>
            <a:off x="1499616" y="4928616"/>
            <a:ext cx="9921240" cy="429768"/>
          </a:xfrm>
          <a:prstGeom prst="rect">
            <a:avLst/>
          </a:prstGeom>
          <a:noFill/>
        </p:spPr>
        <p:txBody>
          <a:bodyPr wrap="none" lIns="0" rIns="0" tIns="0" bIns="0" anchor="t">
            <a:spAutoFit/>
          </a:bodyPr>
          <a:lstStyle/>
          <a:p>
            <a:pPr algn="l">
              <a:lnSpc>
                <a:spcPct val="120000"/>
              </a:lnSpc>
              <a:spcBef>
                <a:spcPts val="0"/>
              </a:spcBef>
              <a:spcAft>
                <a:spcPts val="0"/>
              </a:spcAft>
              <a:defRPr sz="1800" b="0">
                <a:solidFill>
                  <a:srgbClr val="17323D"/>
                </a:solidFill>
                <a:latin typeface="Arial"/>
              </a:defRPr>
            </a:pPr>
            <a:r>
              <a:t>Duan et al. (2025). Breaking the Sorting Barrier for Directed SSSP.</a:t>
            </a:r>
          </a:p>
        </p:txBody>
      </p:sp>
      <p:sp>
        <p:nvSpPr>
          <p:cNvPr id="28" name="TextBox 27"/>
          <p:cNvSpPr txBox="1"/>
          <p:nvPr/>
        </p:nvSpPr>
        <p:spPr>
          <a:xfrm>
            <a:off x="1499616" y="5394960"/>
            <a:ext cx="9921240" cy="365760"/>
          </a:xfrm>
          <a:prstGeom prst="rect">
            <a:avLst/>
          </a:prstGeom>
          <a:noFill/>
        </p:spPr>
        <p:txBody>
          <a:bodyPr wrap="none" lIns="0" rIns="0" tIns="0" bIns="0" anchor="t">
            <a:spAutoFit/>
          </a:bodyPr>
          <a:lstStyle/>
          <a:p>
            <a:pPr algn="l">
              <a:lnSpc>
                <a:spcPct val="120000"/>
              </a:lnSpc>
              <a:spcBef>
                <a:spcPts val="0"/>
              </a:spcBef>
              <a:spcAft>
                <a:spcPts val="0"/>
              </a:spcAft>
              <a:defRPr sz="1280" b="0">
                <a:solidFill>
                  <a:srgbClr val="63777D"/>
                </a:solidFill>
                <a:latin typeface="Arial"/>
              </a:defRPr>
            </a:pPr>
            <a:r>
              <a:t>arxiv.org/abs/2504.17033v2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Dijkstra and A*: when can a route be finalized?</dc:title>
  <dc:subject>90-minute PhD lecture: conjectures, counterexamples, proofs and code</dc:subject>
  <dc:creator>Lecture teaching package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